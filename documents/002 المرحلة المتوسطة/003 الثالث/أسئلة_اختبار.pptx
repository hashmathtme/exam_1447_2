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6858000" cy="9906000" type="A4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بلا نمط، شبكة جدول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>
        <p:scale>
          <a:sx n="100" d="100"/>
          <a:sy n="100" d="100"/>
        </p:scale>
        <p:origin x="91" y="-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3:51:34.487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1082 46 9270,'0'7'-140,"-2"0"0,1-2 198,-5 2 1,3 0-1,-1 5 1,1-1 4,1-1 1,-3 3 0,1-3-1,-1 2 0,1-1 0,1 1 0,-2 2 0,-2 2-21,0-4 1,5 6 0,-3-2 0,1-1-50,1 1 1,-4 2-1,1-4 1,3 0 30,-1 0 1,2-2-1,-3-1 1,2 1-15,-1-1 1,1 1-1,1-2 14,-2 3 1,3-3 0,-5 1-113,1-4 63,5 3 0,-5-8 22,5 5 0,-2-3 122,-1-1 83,1-1-139,-3-2 39,-1 0-5,6-5 0,-7 1 17,4-3 0,1 4-134,-1-5 1,1 0-89,2-3 0,-4 1 0,1-3 51,1 3 0,0 1 0,1 2 1,-1-2 19,-2-1 0,1-1 1,3 1-1,0-3 19,0 3 1,0-2-1,0-2 1,0-2-36,0 2 0,0 1 0,0 3 0,0-2 13,0 1 1,0 1 0,0-3 0,0 3 2,0-3 0,0 3 0,-2-1 1,-2-1 32,1 2 1,-1 1-1,4 2 1,0-2 17,0 0 0,0 0 1,0 2-8,0-1 1,-1 1 0,-1 0-7,-2-2 1,1 4-4,3-4 0,0 5 3,0-3 0,-2 4 1,0-1 37,-1-1-8,-2 3-28,5-3 1,0 5 18,-4 0 46,2 0 0,-5 0 29,4 0 1,-2 0-55,-8 0 0,6 0 0,0 0-37,-2 0 0,-1 0 1,-2 0-1,1 0 8,1 0 1,-3 0 0,-1 0 0,-2 0 17,2 0 0,-3 0 0,-1 0 1,-3 2-20,-2 1 0,1-1 0,-3 2 0,-1-3-50,-4-1 1,0 0-1,-1 0 1,-5 0 22,1 0 1,-3 0 0,-1 0 0,2 0 52,-1 0 1,6 0 0,-1 0 0,5 0 7,3 0 1,4 0-1,3 0 78,3 0 0,1 0-102,1 0-31,3 0 1,1 0 1,2 0-90,5 0-872,-3 0 968,5 0 0,5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3:55:49.595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715 30 9270,'0'5'-140,"-1"0"0,0-2 198,-3 2 1,2-1-1,0 4 1,0-1 4,0 0 1,-1 2 0,0-3-1,0 2 0,0-1 0,1 1 0,-1 2 0,-2 0-21,1-2 1,2 4 0,-1-2 0,1 0-50,0 1 1,-3 1-1,1-3 1,2 0 30,-1 1 1,2-2-1,-2-1 1,1 1-15,-1-1 1,1 1-1,1-1 14,-2 1 1,2-1 0,-2 0-113,-1-2 63,4 1 0,-3-4 22,3 2 0,-1-1 122,-1-1 83,0-1-139,-1-1 39,-1 0-5,4-3 0,-5 0 17,3-1 0,1 2-134,-1-4 1,1 1-89,1-2 0,-3 0 0,1-1 51,1 1 0,0 1 0,0 1 1,0-1 19,-2 0 0,1-1 1,2 0-1,0-2 19,0 3 1,0-2-1,0-1 1,0-2-36,0 2 0,0 0 0,0 3 0,0-2 13,0 0 1,0 2 0,0-3 0,0 3 2,0-3 0,0 2 0,-1 0 1,-2-1 32,1 2 1,-1 0-1,3 1 1,0-1 17,0 0 0,0 0 1,0 2-8,0-2 1,0 2 0,-2-1-7,0-1 1,0 3-4,2-3 0,0 3 3,0-1 0,-2 2 1,1-1 37,-1 0-8,-1 1-28,3-1 1,0 3 18,-3 0 46,2 0 0,-4 0 29,3 0 1,-1 0-55,-6 0 0,5 0 0,-1 0-37,-1 0 0,0 0 1,-2 0-1,0 0 8,2 0 1,-3 0 0,0 0 0,-2 0 17,2 0 0,-2 0 0,-1 0 1,-2 1-20,-1 1 0,0 0 0,-1 0 0,-1-1-50,-3-1 1,0 0-1,0 0 1,-4 0 22,1 0 1,-2 0 0,-1 0 0,1 0 52,0 0 1,4 0 0,-1 0 0,4 0 7,1 0 1,3 0-1,3 0 78,1 0 0,0 0-102,2 0-31,1 0 1,1 0 1,2 0-90,2 0-872,-1 0 968,3 0 0,3 0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3:56:56.573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715 30 9270,'0'5'-140,"-1"0"0,0-2 198,-3 2 1,2-1-1,0 4 1,0-1 4,0 0 1,-1 2 0,0-3-1,0 2 0,0-1 0,1 1 0,-1 2 0,-2 0-21,1-2 1,2 4 0,-1-2 0,1 0-50,0 1 1,-3 1-1,1-3 1,2 0 30,-1 1 1,2-2-1,-2-1 1,1 1-15,-1-1 1,1 1-1,1-1 14,-2 1 1,2-1 0,-2 0-113,-1-2 63,4 1 0,-3-4 22,3 2 0,-1-1 122,-1-1 83,0-1-139,-1-1 39,-1 0-5,4-3 0,-5 0 17,3-1 0,1 2-134,-1-4 1,1 1-89,1-2 0,-3 0 0,1-1 51,1 1 0,0 1 0,0 1 1,0-1 19,-2 0 0,1-1 1,2 0-1,0-2 19,0 3 1,0-2-1,0-1 1,0-2-36,0 2 0,0 0 0,0 3 0,0-2 13,0 0 1,0 2 0,0-3 0,0 3 2,0-3 0,0 2 0,-1 0 1,-2-1 32,1 2 1,-1 0-1,3 1 1,0-1 17,0 0 0,0 0 1,0 2-8,0-2 1,0 2 0,-2-1-7,0-1 1,0 3-4,2-3 0,0 3 3,0-1 0,-2 2 1,1-1 37,-1 0-8,-1 1-28,3-1 1,0 3 18,-3 0 46,2 0 0,-4 0 29,3 0 1,-1 0-55,-6 0 0,5 0 0,-1 0-37,-1 0 0,0 0 1,-2 0-1,0 0 8,2 0 1,-3 0 0,0 0 0,-2 0 17,2 0 0,-2 0 0,-1 0 1,-2 1-20,-1 1 0,0 0 0,-1 0 0,-1-1-50,-3-1 1,0 0-1,0 0 1,-4 0 22,1 0 1,-2 0 0,-1 0 0,1 0 52,0 0 1,4 0 0,-1 0 0,4 0 7,1 0 1,3 0-1,3 0 78,1 0 0,0 0-102,2 0-31,1 0 1,1 0 1,2 0-90,2 0-872,-1 0 968,3 0 0,3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3:57:50.436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715 30 9270,'0'5'-140,"-1"0"0,0-2 198,-3 2 1,2-1-1,0 4 1,0-1 4,0 0 1,-1 2 0,0-3-1,0 2 0,0-1 0,1 1 0,-1 2 0,-2 0-21,1-2 1,2 4 0,-1-2 0,1 0-50,0 1 1,-3 1-1,1-3 1,2 0 30,-1 1 1,2-2-1,-2-1 1,1 1-15,-1-1 1,1 1-1,1-1 14,-2 1 1,2-1 0,-2 0-113,-1-2 63,4 1 0,-3-4 22,3 2 0,-1-1 122,-1-1 83,0-1-139,-1-1 39,-1 0-5,4-3 0,-5 0 17,3-1 0,1 2-134,-1-4 1,1 1-89,1-2 0,-3 0 0,1-1 51,1 1 0,0 1 0,0 1 1,0-1 19,-2 0 0,1-1 1,2 0-1,0-2 19,0 3 1,0-2-1,0-1 1,0-2-36,0 2 0,0 0 0,0 3 0,0-2 13,0 0 1,0 2 0,0-3 0,0 3 2,0-3 0,0 2 0,-1 0 1,-2-1 32,1 2 1,-1 0-1,3 1 1,0-1 17,0 0 0,0 0 1,0 2-8,0-2 1,0 2 0,-2-1-7,0-1 1,0 3-4,2-3 0,0 3 3,0-1 0,-2 2 1,1-1 37,-1 0-8,-1 1-28,3-1 1,0 3 18,-3 0 46,2 0 0,-4 0 29,3 0 1,-1 0-55,-6 0 0,5 0 0,-1 0-37,-1 0 0,0 0 1,-2 0-1,0 0 8,2 0 1,-3 0 0,0 0 0,-2 0 17,2 0 0,-2 0 0,-1 0 1,-2 1-20,-1 1 0,0 0 0,-1 0 0,-1-1-50,-3-1 1,0 0-1,0 0 1,-4 0 22,1 0 1,-2 0 0,-1 0 0,1 0 52,0 0 1,4 0 0,-1 0 0,4 0 7,1 0 1,3 0-1,3 0 78,1 0 0,0 0-102,2 0-31,1 0 1,1 0 1,2 0-90,2 0-872,-1 0 968,3 0 0,3 0 0,1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3:59:56.344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715 30 9270,'0'5'-140,"-1"0"0,0-2 198,-3 2 1,2-1-1,0 4 1,0-1 4,0 0 1,-1 2 0,0-3-1,0 2 0,0-1 0,1 1 0,-1 2 0,-2 0-21,1-2 1,2 4 0,-1-2 0,1 0-50,0 1 1,-3 1-1,1-3 1,2 0 30,-1 1 1,2-2-1,-2-1 1,1 1-15,-1-1 1,1 1-1,1-1 14,-2 1 1,2-1 0,-2 0-113,-1-2 63,4 1 0,-3-4 22,3 2 0,-1-1 122,-1-1 83,0-1-139,-1-1 39,-1 0-5,4-3 0,-5 0 17,3-1 0,1 2-134,-1-4 1,1 1-89,1-2 0,-3 0 0,1-1 51,1 1 0,0 1 0,0 1 1,0-1 19,-2 0 0,1-1 1,2 0-1,0-2 19,0 3 1,0-2-1,0-1 1,0-2-36,0 2 0,0 0 0,0 3 0,0-2 13,0 0 1,0 2 0,0-3 0,0 3 2,0-3 0,0 2 0,-1 0 1,-2-1 32,1 2 1,-1 0-1,3 1 1,0-1 17,0 0 0,0 0 1,0 2-8,0-2 1,0 2 0,-2-1-7,0-1 1,0 3-4,2-3 0,0 3 3,0-1 0,-2 2 1,1-1 37,-1 0-8,-1 1-28,3-1 1,0 3 18,-3 0 46,2 0 0,-4 0 29,3 0 1,-1 0-55,-6 0 0,5 0 0,-1 0-37,-1 0 0,0 0 1,-2 0-1,0 0 8,2 0 1,-3 0 0,0 0 0,-2 0 17,2 0 0,-2 0 0,-1 0 1,-2 1-20,-1 1 0,0 0 0,-1 0 0,-1-1-50,-3-1 1,0 0-1,0 0 1,-4 0 22,1 0 1,-2 0 0,-1 0 0,1 0 52,0 0 1,4 0 0,-1 0 0,4 0 7,1 0 1,3 0-1,3 0 78,1 0 0,0 0-102,2 0-31,1 0 1,1 0 1,2 0-90,2 0-872,-1 0 968,3 0 0,3 0 0,1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4:27:09.912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1100 46 9270,'0'7'-140,"-2"0"0,1-2 198,-5 2 1,3 0-1,-1 5 1,1-1 4,1-1 1,-3 3 0,1-3-1,-1 2 0,1-1 0,1 1 0,-2 2 0,-2 2-21,0-4 1,5 6 0,-3-2 0,1-1-50,1 1 1,-4 2-1,1-4 1,3 0 30,-1 0 1,2-2-1,-3-1 1,2 1-15,-1-1 1,1 1-1,1-2 14,-2 3 1,3-3 0,-5 1-113,1-4 63,5 3 0,-5-8 22,5 5 0,-2-3 122,-1-1 83,1-1-139,-3-2 39,-1 0-5,6-5 0,-7 1 17,4-3 0,1 4-134,-1-5 1,1 0-89,2-3 0,-4 1 0,1-3 51,1 3 0,0 1 0,1 2 1,-1-2 19,-2-1 0,1-1 1,3 1-1,0-3 19,0 3 1,0-2-1,0-2 1,0-2-36,0 2 0,0 1 0,0 3 0,0-2 13,0 1 1,0 1 0,0-3 0,0 3 2,0-3 0,0 3 0,-2-1 1,-2-1 32,1 2 1,-1 1-1,4 2 1,0-2 17,0 0 0,0 0 1,0 2-8,0-1 1,-1 1 0,-1 0-7,-2-2 1,1 4-4,3-4 0,0 5 3,0-3 0,-2 4 1,0-1 37,-1-1-8,-2 3-28,5-3 1,0 5 18,-4 0 46,2 0 0,-5 0 29,4 0 1,-2 0-55,-8 0 0,6 0 0,0 0-37,-2 0 0,-1 0 1,-2 0-1,1 0 8,1 0 1,-3 0 0,-1 0 0,-2 0 17,2 0 0,-3 0 0,-1 0 1,-3 2-20,-2 1 0,1-1 0,-3 2 0,-1-3-50,-4-1 1,0 0-1,-1 0 1,-5 0 22,1 0 1,-3 0 0,-1 0 0,2 0 52,-1 0 1,6 0 0,-1 0 0,5 0 7,3 0 1,4 0-1,3 0 78,3 0 0,1 0-102,1 0-31,3 0 1,1 0 1,2 0-90,5 0-872,-3 0 968,5 0 0,5 0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4:27:32.295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598 25 9270,'0'3'-140,"-1"1"0,0-1 198,-2 1 1,1-1-1,0 4 1,1-1 4,0-1 1,-2 2 0,1-2-1,-1 2 0,1-1 0,0 0 0,0 2 0,-2 0-21,0-1 1,3 2 0,-2 0 0,1-1-50,1 0 1,-3 2-1,1-3 1,1 1 30,0-1 1,1 0-1,-2-1 1,2 0-15,-1 0 1,0 1-1,1-2 14,-1 2 1,1-2 0,-2 1-113,0-2 63,3 1 0,-2-4 22,2 3 0,-1-2 122,-1 0 83,1-1-139,-2-1 39,0 0-5,3-3 0,-4 1 17,3-2 0,0 3-134,-1-4 1,1 1-89,1-2 0,-2 1 0,0-2 51,1 2 0,0 0 0,0 1 1,0-1 19,-1 0 0,1-1 1,1 1-1,0-2 19,0 1 1,0 0-1,0-2 1,0 0-36,0 0 0,0 1 0,0 2 0,0-2 13,0 2 1,0-1 0,0-1 0,0 2 2,0-2 0,0 2 0,-1-1 1,-2-1 32,2 2 1,-1 0-1,2 1 1,0 0 17,0-1 0,0 0 1,0 1-8,0 0 1,-1 0 0,0 0-7,-1 0 1,0 1-4,2-2 0,0 3 3,0-2 0,-1 3 1,0-2 37,0 1-8,-2 1-28,3-2 1,0 3 18,-2 0 46,1 0 0,-3 0 29,2 0 1,0 0-55,-5 0 0,3 0 0,0 0-37,-1 0 0,0 0 1,-1 0-1,0 0 8,0 0 1,-1 0 0,0 0 0,-2 0 17,2 0 0,-2 0 0,-1 0 1,-1 1-20,-2 1 0,2-1 0,-3 1 0,0-2-50,-2 0 1,0 0-1,0 0 1,-4 0 22,2 0 1,-3 0 0,0 0 0,2 0 52,-2 0 1,4 0 0,-1 0 0,3 0 7,2 0 1,2 0-1,1 0 78,2 0 0,1 0-102,0 0-31,1 0 1,1 0 1,2 0-90,2 0-872,-2 0 968,3 0 0,3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4:27:49.410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598 25 9270,'0'3'-140,"-1"1"0,0-1 198,-2 1 1,1-1-1,0 4 1,1-1 4,0-1 1,-2 2 0,1-2-1,-1 2 0,1-1 0,0 0 0,0 2 0,-2 0-21,0-1 1,3 2 0,-2 0 0,1-1-50,1 0 1,-3 2-1,1-3 1,1 1 30,0-1 1,1 0-1,-2-1 1,2 0-15,-1 0 1,0 1-1,1-2 14,-1 2 1,1-2 0,-2 1-113,0-2 63,3 1 0,-2-4 22,2 3 0,-1-2 122,-1 0 83,1-1-139,-2-1 39,0 0-5,3-3 0,-4 1 17,3-2 0,0 3-134,-1-4 1,1 1-89,1-2 0,-2 1 0,0-2 51,1 2 0,0 0 0,0 1 1,0-1 19,-1 0 0,1-1 1,1 1-1,0-2 19,0 1 1,0 0-1,0-2 1,0 0-36,0 0 0,0 1 0,0 2 0,0-2 13,0 2 1,0-1 0,0-1 0,0 2 2,0-2 0,0 2 0,-1-1 1,-2-1 32,2 2 1,-1 0-1,2 1 1,0 0 17,0-1 0,0 0 1,0 1-8,0 0 1,-1 0 0,0 0-7,-1 0 1,0 1-4,2-2 0,0 3 3,0-2 0,-1 3 1,0-2 37,0 1-8,-2 1-28,3-2 1,0 3 18,-2 0 46,1 0 0,-3 0 29,2 0 1,0 0-55,-5 0 0,3 0 0,0 0-37,-1 0 0,0 0 1,-1 0-1,0 0 8,0 0 1,-1 0 0,0 0 0,-2 0 17,2 0 0,-2 0 0,-1 0 1,-1 1-20,-2 1 0,2-1 0,-3 1 0,0-2-50,-2 0 1,0 0-1,0 0 1,-4 0 22,2 0 1,-3 0 0,0 0 0,2 0 52,-2 0 1,4 0 0,-1 0 0,3 0 7,2 0 1,2 0-1,1 0 78,2 0 0,1 0-102,0 0-31,1 0 1,1 0 1,2 0-90,2 0-872,-2 0 968,3 0 0,3 0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4:29:47.352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598 25 9270,'0'3'-140,"-1"1"0,0-1 198,-2 1 1,1-1-1,0 4 1,1-1 4,0-1 1,-2 2 0,1-2-1,-1 2 0,1-1 0,0 0 0,0 2 0,-2 0-21,0-1 1,3 2 0,-2 0 0,1-1-50,1 0 1,-3 2-1,1-3 1,1 1 30,0-1 1,1 0-1,-2-1 1,2 0-15,-1 0 1,0 1-1,1-2 14,-1 2 1,1-2 0,-2 1-113,0-2 63,3 1 0,-2-4 22,2 3 0,-1-2 122,-1 0 83,1-1-139,-2-1 39,0 0-5,3-3 0,-4 1 17,3-2 0,0 3-134,-1-4 1,1 1-89,1-2 0,-2 1 0,0-2 51,1 2 0,0 0 0,0 1 1,0-1 19,-1 0 0,1-1 1,1 1-1,0-2 19,0 1 1,0 0-1,0-2 1,0 0-36,0 0 0,0 1 0,0 2 0,0-2 13,0 2 1,0-1 0,0-1 0,0 2 2,0-2 0,0 2 0,-1-1 1,-2-1 32,2 2 1,-1 0-1,2 1 1,0 0 17,0-1 0,0 0 1,0 1-8,0 0 1,-1 0 0,0 0-7,-1 0 1,0 1-4,2-2 0,0 3 3,0-2 0,-1 3 1,0-2 37,0 1-8,-2 1-28,3-2 1,0 3 18,-2 0 46,1 0 0,-3 0 29,2 0 1,0 0-55,-5 0 0,3 0 0,0 0-37,-1 0 0,0 0 1,-1 0-1,0 0 8,0 0 1,-1 0 0,0 0 0,-2 0 17,2 0 0,-2 0 0,-1 0 1,-1 1-20,-2 1 0,2-1 0,-3 1 0,0-2-50,-2 0 1,0 0-1,0 0 1,-4 0 22,2 0 1,-3 0 0,0 0 0,2 0 52,-2 0 1,4 0 0,-1 0 0,3 0 7,2 0 1,2 0-1,1 0 78,2 0 0,1 0-102,0 0-31,1 0 1,1 0 1,2 0-90,2 0-872,-2 0 968,3 0 0,3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4:29:58.085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598 25 9270,'0'3'-140,"-1"1"0,0-1 198,-2 1 1,1-1-1,0 4 1,1-1 4,0-1 1,-2 2 0,1-2-1,-1 2 0,1-1 0,0 0 0,0 2 0,-2 0-21,0-1 1,3 2 0,-2 0 0,1-1-50,1 0 1,-3 2-1,1-3 1,1 1 30,0-1 1,1 0-1,-2-1 1,2 0-15,-1 0 1,0 1-1,1-2 14,-1 2 1,1-2 0,-2 1-113,0-2 63,3 1 0,-2-4 22,2 3 0,-1-2 122,-1 0 83,1-1-139,-2-1 39,0 0-5,3-3 0,-4 1 17,3-2 0,0 3-134,-1-4 1,1 1-89,1-2 0,-2 1 0,0-2 51,1 2 0,0 0 0,0 1 1,0-1 19,-1 0 0,1-1 1,1 1-1,0-2 19,0 1 1,0 0-1,0-2 1,0 0-36,0 0 0,0 1 0,0 2 0,0-2 13,0 2 1,0-1 0,0-1 0,0 2 2,0-2 0,0 2 0,-1-1 1,-2-1 32,2 2 1,-1 0-1,2 1 1,0 0 17,0-1 0,0 0 1,0 1-8,0 0 1,-1 0 0,0 0-7,-1 0 1,0 1-4,2-2 0,0 3 3,0-2 0,-1 3 1,0-2 37,0 1-8,-2 1-28,3-2 1,0 3 18,-2 0 46,1 0 0,-3 0 29,2 0 1,0 0-55,-5 0 0,3 0 0,0 0-37,-1 0 0,0 0 1,-1 0-1,0 0 8,0 0 1,-1 0 0,0 0 0,-2 0 17,2 0 0,-2 0 0,-1 0 1,-1 1-20,-2 1 0,2-1 0,-3 1 0,0-2-50,-2 0 1,0 0-1,0 0 1,-4 0 22,2 0 1,-3 0 0,0 0 0,2 0 52,-2 0 1,4 0 0,-1 0 0,3 0 7,2 0 1,2 0-1,1 0 78,2 0 0,1 0-102,0 0-31,1 0 1,1 0 1,2 0-90,2 0-872,-2 0 968,3 0 0,3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4:31:44.646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1679 71 9270,'0'10'-140,"-3"1"0,1-3 198,-7 3 1,4-1-1,-1 9 1,2-2 4,1-2 1,-5 5 0,2-5-1,-2 4 0,2-2 0,1 1 0,-2 4 0,-4 2-21,0-5 1,8 8 0,-5-2 0,2-2-50,2 1 1,-7 4-1,2-7 1,4 1 30,-1-1 1,3-2-1,-5-2 1,4 1-15,-2-1 1,1 2-1,2-4 14,-3 5 1,4-5 0,-7 2-113,1-6 63,8 4 0,-7-12 22,7 8 0,-3-5 122,-2-1 83,2-2-139,-5-3 39,-1 0-5,9-8 0,-11 2 17,7-5 0,1 7-134,-2-9 1,2 1-89,3-5 0,-6 2 0,1-5 51,2 5 0,0 1 0,1 3 1,-1-3 19,-3-1 0,2-2 1,4 2-1,0-5 19,0 4 1,0-2-1,0-4 1,0-2-36,0 2 0,0 2 0,0 5 0,0-4 13,0 3 1,0 0 0,0-4 0,0 5 2,0-5 0,0 5 0,-3-2 1,-4-2 32,3 4 1,-2 1-1,6 3 1,0-2 17,0-1 0,0 0 1,0 3-8,0-1 1,-2 1 0,-1 0-7,-3-2 1,1 5-4,5-6 0,0 8 3,0-5 0,-3 7 1,0-3 37,-1 0-8,-4 4-28,8-5 1,0 8 18,-6 0 46,3 0 0,-8 0 29,6 0 1,-2 0-55,-13 0 0,9 0 0,0 0-37,-3 0 0,-1 0 1,-3 0-1,1 0 8,1 0 1,-4 0 0,-1 0 0,-4 0 17,4 0 0,-5 0 0,-2 0 1,-4 3-20,-4 2 0,3-2 0,-6 3 0,-1-5-50,-6-1 1,0 0-1,-1 0 1,-9 0 22,3 0 1,-6 0 0,-1 0 0,4 0 52,-3 0 1,10 0 0,-2 0 0,8 0 7,5 0 1,6 0-1,4 0 78,5 0 0,2 0-102,1 0-31,4 0 1,2 0 1,4 0-90,7 0-872,-5 0 968,8 0 0,8 0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4:32:59.923"/>
    </inkml:context>
    <inkml:brush xml:id="br0">
      <inkml:brushProperty name="width" value="0.05714" units="cm"/>
      <inkml:brushProperty name="height" value="0.05714" units="cm"/>
    </inkml:brush>
  </inkml:definitions>
  <inkml:trace contextRef="#ctx0" brushRef="#br0">705 29 9270,'0'4'-140,"-1"1"0,0-2 198,-3 2 1,2-1-1,0 4 1,0-1 4,1-1 1,-2 2 0,0-1-1,0 0 0,0 0 0,1 1 0,-1 1 0,-1 1-21,-1-2 1,4 3 0,-2-1 0,0 0-50,2 0 1,-4 1-1,1-2 1,2 0 30,0 0 1,1-1-1,-3-1 1,3 0-15,-2 0 1,1 1-1,1-2 14,-2 2 1,3-1 0,-4 0-113,1-3 63,3 2 0,-3-4 22,3 2 0,-2-1 122,0-1 83,1-1-139,-2-1 39,-1 0-5,4-3 0,-4 0 17,2-1 0,1 2-134,-1-3 1,0 0-89,2-2 0,-2 0 0,0-1 51,1 2 0,-1 0 0,1 2 1,0-2 19,-1 0 0,0-1 1,2 0-1,0-1 19,0 1 1,0 0-1,0-2 1,0-1-36,0 1 0,0 1 0,0 1 0,0 0 13,0 0 1,0 0 0,0-1 0,0 2 2,0-2 0,0 1 0,-1 0 1,-2 0 32,1 0 1,0 2-1,2 0 1,0 0 17,0-1 0,0 0 1,0 2-8,0-1 1,-1 0 0,0 0-7,-2 0 1,1 2-4,2-3 0,0 4 3,0-3 0,-1 3 1,0-1 37,-1 1-8,-1 0-28,3-1 1,0 3 18,-3 0 46,2 0 0,-3 0 29,1 0 1,1 0-55,-7 0 0,5 0 0,-1 0-37,-1 0 0,0 0 1,-1 0-1,0 0 8,0 0 1,-1 0 0,-1 0 0,-1 0 17,1 0 0,-2 0 0,0 0 1,-2 1-20,-2 1 0,1 0 0,-2 0 0,-1-2-50,-2 0 1,0 0-1,0 0 1,-4 0 22,1 0 1,-2 0 0,-1 0 0,2 0 52,-2 0 1,5 0 0,-1 0 0,3 0 7,2 0 1,3 0-1,2 0 78,1 0 0,1 0-102,1 0-31,1 0 1,2 0 1,1 0-90,2 0-872,-1 0 968,3 0 0,3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308E20C-EBA4-4A18-BB75-859FF6815F80}" type="datetimeFigureOut">
              <a:rPr lang="ar-SA" smtClean="0"/>
              <a:t>1 ذو الحجة، 1447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60F620E-990A-4C54-9426-143A76561FD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5868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B2AE934-659E-DD45-91EE-78C7E3A44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80F063BF-7A81-3F5F-EC67-4DA74C843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B61A1ED-8A81-C6C0-5699-ED45E76A0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65A3-30DE-461D-8A3A-9092E058E198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7C1A9F0-9FA0-530C-9FC7-A3D64627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2EEC969-3F82-D397-D7B0-1D8BBB84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1501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A71D346-000B-D2AA-D548-5E4641C14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B6CB12C-B7A6-C330-C0C9-CEB7012C4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8812531-8CB9-4479-CE86-2B6A84D6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B8D1-D9C2-42FB-9DFC-0EF910426F7D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DC4D7CF-6FC8-CF23-9A18-912515BBC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173A29E-426C-7C54-546A-573B4EA1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6879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49A39E4-CD4F-229B-493D-8579CF993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8488AB0-A1B4-29EB-CC99-376607D27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69525B3-D043-5B9C-1B34-709F0ADA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369BE-3AFB-4321-A302-60B38B973E4D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38BA4A9-E23A-4A39-492C-D4F530B9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38734AB-ADC6-5813-58FF-141ACFE0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5811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D25689F-941B-E382-8C67-0BFC4F46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A9F578F-D1D0-5A36-6286-960FFF564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3391651-4C83-B922-8FD0-3D11DB35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0656CA9-932C-ED70-61AF-5E50A2AD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0B263-7CE3-4ACF-9AC7-199D32318270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8FD395C-C7F6-40FA-8011-249360FEF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C8600F4-AE80-302F-5099-6F4E8547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78984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0D70BCA-7420-EB44-88DA-8B74AE69F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4D8A703-D0DE-5D3D-2FD6-F138CDE61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0E15160-8F1B-8C72-DB38-D097007D3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BFB7A24A-09CF-4B02-1851-2A925D535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35CC12C2-DBDC-884F-0CFE-76BC46AC7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D13FEA10-775C-87C7-FA20-FC8D461F0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D623C-226D-403A-B957-75500652237D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807200FF-985C-DA17-7EE5-422C80A1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BE3BCA64-DFF0-DC36-E8D2-EA9483C2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2579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15E739F-D4EB-F1A8-6402-85583FEC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120B44BC-35F7-88CF-30AC-F7111B0CD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D180-9EEC-4064-B6BA-F63A045E8191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78658D7-068A-F928-B71E-EC8BED887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D0E21A12-BCE4-2A62-0B16-D76A1D8A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7151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6E8337E7-93D0-BBC9-A56A-38FC5091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4C548-C726-4668-B5E3-A099609B708A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7DDDB04-85E9-EB76-0B55-3502193B5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6EA1EA6C-D2F3-FE8F-EF0B-F9DDD386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491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DD40164-0F64-ED22-EDB1-A7DBF4AC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4123695-BD78-262E-18D1-4EF7DD79D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DFCDE281-DCF8-6D26-E6B9-D65D3EDE0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303BE13-FCE1-4593-0760-9D33BB2BE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FE0F-94C5-497D-A3E5-F1E364A30EC6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90497A0-98E8-8E9A-B8AB-3381CD624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07C8F67-7A28-3247-344F-9812640A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8690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21DC896-0212-DF56-FB1D-7725F8A9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33294DD9-31FA-42FB-DEC2-70233B9AC8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5C543E60-C9F8-55AA-6604-699ACC3C5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C9283EB-F6A1-533A-C580-E6CC1E03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4DCBB-C5E9-4165-B685-2876F2F77653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A5C1E45-EB9C-8B5B-BEC0-FD9750860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E666E1A4-3261-E99B-A358-A33EB7FAB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70019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EE0278C-E4F6-1AF2-A071-A85E3A14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207A19BC-627D-B7CF-CA7A-5693F7A72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73CDA2B-9C8C-358E-6033-AB7604AA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CEC7-3A3F-46F8-AE47-6BCFC9003CAA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EBADA21-23F9-4378-0308-5C02D5DD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567B090-94DC-A74E-840D-D75D07DF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4733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C2CFFC39-FDA9-5103-D20C-8ED4EABB2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5449C910-FDB0-F869-CB6B-11946D7C8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874F803-F086-80B8-BFE6-B0F645B57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FDAD-C2EB-408D-9680-3379C10FAC88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42F4D75-9167-1AE0-736A-AAD5E733A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B52A217-1442-49D7-8D77-B803D062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0627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2EE9F501-3B2E-F98E-490B-115B3A06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C047392E-193B-58F9-6617-65E1E88E2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4753A51-E7A1-FF47-E8AD-408CBBF5F2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9A988-42FB-47CC-9336-C594CB728611}" type="uaqdatetime1">
              <a:rPr lang="ar-SA" smtClean="0"/>
              <a:t>30 ذو القعدة، 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9F86C98-3BD3-19B6-394A-C6DE7DEC7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ar-SA"/>
              <a:t>اقلبي الصفحة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763C522-2C49-1BD4-F532-B979021F3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5D59E-AF41-49FF-A3D6-241DD8B930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2328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r" defTabSz="514350" rtl="1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r" defTabSz="514350" rtl="1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r" defTabSz="514350" rtl="1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r" defTabSz="514350" rtl="1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r" defTabSz="514350" rtl="1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r" defTabSz="514350" rtl="1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r" defTabSz="514350" rtl="1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r" defTabSz="514350" rtl="1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r" defTabSz="514350" rtl="1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r" defTabSz="514350" rtl="1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514350" rtl="1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r" defTabSz="514350" rtl="1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r" defTabSz="514350" rtl="1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r" defTabSz="514350" rtl="1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r" defTabSz="514350" rtl="1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r" defTabSz="514350" rtl="1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r" defTabSz="514350" rtl="1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r" defTabSz="514350" rtl="1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r" defTabSz="514350" rtl="1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18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image" Target="../media/image5.png"/><Relationship Id="rId16" Type="http://schemas.openxmlformats.org/officeDocument/2006/relationships/image" Target="../media/image9.png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7.png"/><Relationship Id="rId24" Type="http://schemas.openxmlformats.org/officeDocument/2006/relationships/image" Target="../media/image14.png"/><Relationship Id="rId5" Type="http://schemas.openxmlformats.org/officeDocument/2006/relationships/customXml" Target="../ink/ink2.xml"/><Relationship Id="rId15" Type="http://schemas.openxmlformats.org/officeDocument/2006/relationships/customXml" Target="../ink/ink9.xml"/><Relationship Id="rId23" Type="http://schemas.openxmlformats.org/officeDocument/2006/relationships/image" Target="../media/image13.png"/><Relationship Id="rId10" Type="http://schemas.openxmlformats.org/officeDocument/2006/relationships/customXml" Target="../ink/ink6.xml"/><Relationship Id="rId19" Type="http://schemas.openxmlformats.org/officeDocument/2006/relationships/image" Target="../media/image10.png"/><Relationship Id="rId4" Type="http://schemas.openxmlformats.org/officeDocument/2006/relationships/image" Target="../media/image50.png"/><Relationship Id="rId9" Type="http://schemas.openxmlformats.org/officeDocument/2006/relationships/customXml" Target="../ink/ink5.xml"/><Relationship Id="rId14" Type="http://schemas.openxmlformats.org/officeDocument/2006/relationships/customXml" Target="../ink/ink8.xml"/><Relationship Id="rId22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6">
            <a:extLst>
              <a:ext uri="{FF2B5EF4-FFF2-40B4-BE49-F238E27FC236}">
                <a16:creationId xmlns:a16="http://schemas.microsoft.com/office/drawing/2014/main" id="{86FEABEC-1A6D-1EE1-3314-DB5A37EF91CB}"/>
              </a:ext>
            </a:extLst>
          </p:cNvPr>
          <p:cNvSpPr txBox="1"/>
          <p:nvPr/>
        </p:nvSpPr>
        <p:spPr>
          <a:xfrm>
            <a:off x="4936379" y="302065"/>
            <a:ext cx="188404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ar-SA" sz="800" b="1" dirty="0"/>
              <a:t>المملكة العربية السعودية</a:t>
            </a:r>
          </a:p>
          <a:p>
            <a:pPr algn="r"/>
            <a:r>
              <a:rPr lang="ar-SA" sz="800" b="1" dirty="0"/>
              <a:t>وزارة التعليم </a:t>
            </a:r>
          </a:p>
          <a:p>
            <a:pPr algn="r"/>
            <a:r>
              <a:rPr lang="ar-SA" sz="800" b="1" dirty="0"/>
              <a:t>الإدارة العامة للتعليم في منطقة</a:t>
            </a:r>
          </a:p>
          <a:p>
            <a:pPr algn="r"/>
            <a:r>
              <a:rPr lang="ar-SA" sz="800" b="1" dirty="0"/>
              <a:t>المتوسطة</a:t>
            </a:r>
            <a:endParaRPr lang="ar-SA" sz="1100" dirty="0"/>
          </a:p>
        </p:txBody>
      </p:sp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id="{7C834511-7D81-E533-759F-378C9A77B37F}"/>
              </a:ext>
            </a:extLst>
          </p:cNvPr>
          <p:cNvSpPr/>
          <p:nvPr/>
        </p:nvSpPr>
        <p:spPr>
          <a:xfrm>
            <a:off x="1027324" y="1221756"/>
            <a:ext cx="5113020" cy="254642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ar-SA" sz="1600" b="1" dirty="0"/>
              <a:t>اسم </a:t>
            </a:r>
            <a:r>
              <a:rPr lang="ar-SA" sz="1600" b="1"/>
              <a:t>الطالبة :...............................الشعبة..... </a:t>
            </a:r>
            <a:r>
              <a:rPr lang="ar-SA" sz="1600" b="1" dirty="0"/>
              <a:t>الرقم الأكاديمي.........</a:t>
            </a:r>
          </a:p>
        </p:txBody>
      </p:sp>
      <p:grpSp>
        <p:nvGrpSpPr>
          <p:cNvPr id="6" name="مجموعة 5">
            <a:extLst>
              <a:ext uri="{FF2B5EF4-FFF2-40B4-BE49-F238E27FC236}">
                <a16:creationId xmlns:a16="http://schemas.microsoft.com/office/drawing/2014/main" id="{E418C230-00FF-4D87-BCCF-EB397D037E7F}"/>
              </a:ext>
            </a:extLst>
          </p:cNvPr>
          <p:cNvGrpSpPr/>
          <p:nvPr/>
        </p:nvGrpSpPr>
        <p:grpSpPr>
          <a:xfrm>
            <a:off x="971630" y="147476"/>
            <a:ext cx="3421381" cy="781266"/>
            <a:chOff x="449580" y="25680"/>
            <a:chExt cx="3421381" cy="781266"/>
          </a:xfrm>
          <a:noFill/>
        </p:grpSpPr>
        <p:sp>
          <p:nvSpPr>
            <p:cNvPr id="7" name="مربع نص 8">
              <a:extLst>
                <a:ext uri="{FF2B5EF4-FFF2-40B4-BE49-F238E27FC236}">
                  <a16:creationId xmlns:a16="http://schemas.microsoft.com/office/drawing/2014/main" id="{450F3A6A-0BEC-BB94-CEBE-EB92DD4429D9}"/>
                </a:ext>
              </a:extLst>
            </p:cNvPr>
            <p:cNvSpPr txBox="1"/>
            <p:nvPr/>
          </p:nvSpPr>
          <p:spPr>
            <a:xfrm>
              <a:off x="449580" y="99060"/>
              <a:ext cx="1287779" cy="707886"/>
            </a:xfrm>
            <a:prstGeom prst="rect">
              <a:avLst/>
            </a:prstGeom>
            <a:grpFill/>
          </p:spPr>
          <p:txBody>
            <a:bodyPr wrap="square" rtlCol="1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ar-SA" sz="800" b="1" dirty="0"/>
                <a:t>المادة : رياضيات</a:t>
              </a:r>
            </a:p>
            <a:p>
              <a:pPr algn="r"/>
              <a:r>
                <a:rPr lang="ar-SA" sz="800" b="1" dirty="0"/>
                <a:t>الزمن :ساعتان ونصف </a:t>
              </a:r>
            </a:p>
            <a:p>
              <a:pPr algn="r"/>
              <a:r>
                <a:rPr lang="ar-SA" sz="800" b="1" dirty="0"/>
                <a:t>اليوم : الأحد </a:t>
              </a:r>
            </a:p>
            <a:p>
              <a:pPr algn="r"/>
              <a:r>
                <a:rPr lang="ar-SA" sz="800" b="1" dirty="0"/>
                <a:t>التاريخ :</a:t>
              </a:r>
            </a:p>
            <a:p>
              <a:pPr algn="r"/>
              <a:r>
                <a:rPr lang="ar-SA" sz="800" b="1" dirty="0"/>
                <a:t>عدد الأوراق :4</a:t>
              </a:r>
              <a:r>
                <a:rPr lang="en-US" sz="800" b="1" dirty="0"/>
                <a:t> </a:t>
              </a:r>
              <a:endParaRPr lang="ar-SA" sz="800" b="1" dirty="0"/>
            </a:p>
          </p:txBody>
        </p:sp>
        <p:pic>
          <p:nvPicPr>
            <p:cNvPr id="8" name="صورة 7">
              <a:extLst>
                <a:ext uri="{FF2B5EF4-FFF2-40B4-BE49-F238E27FC236}">
                  <a16:creationId xmlns:a16="http://schemas.microsoft.com/office/drawing/2014/main" id="{446504CB-A03B-0FB6-3BE7-6A44350D8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76972" y="25680"/>
              <a:ext cx="1193989" cy="750150"/>
            </a:xfrm>
            <a:prstGeom prst="rect">
              <a:avLst/>
            </a:prstGeom>
            <a:grpFill/>
          </p:spPr>
        </p:pic>
      </p:grpSp>
      <p:pic>
        <p:nvPicPr>
          <p:cNvPr id="9" name="table">
            <a:extLst>
              <a:ext uri="{FF2B5EF4-FFF2-40B4-BE49-F238E27FC236}">
                <a16:creationId xmlns:a16="http://schemas.microsoft.com/office/drawing/2014/main" id="{6ED4C2DF-E014-A28D-30DB-175DBF47B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17" y="1563610"/>
            <a:ext cx="5577840" cy="975360"/>
          </a:xfrm>
          <a:prstGeom prst="rect">
            <a:avLst/>
          </a:prstGeom>
          <a:noFill/>
        </p:spPr>
      </p:pic>
      <p:sp>
        <p:nvSpPr>
          <p:cNvPr id="10" name="مربع نص 10">
            <a:extLst>
              <a:ext uri="{FF2B5EF4-FFF2-40B4-BE49-F238E27FC236}">
                <a16:creationId xmlns:a16="http://schemas.microsoft.com/office/drawing/2014/main" id="{3E52D211-2024-1A41-3E42-912ABFA086E7}"/>
              </a:ext>
            </a:extLst>
          </p:cNvPr>
          <p:cNvSpPr txBox="1"/>
          <p:nvPr/>
        </p:nvSpPr>
        <p:spPr>
          <a:xfrm>
            <a:off x="971630" y="886840"/>
            <a:ext cx="5740214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SA" sz="1400" b="1" dirty="0"/>
              <a:t>اختبار مادة رياضيات الصف الثالث متوسط ( الدور الأول ) الفترة الدراسية الثانية لعام ١٤٤٧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4D178C4F-FE15-67C2-BA8E-3118F573FB96}"/>
              </a:ext>
            </a:extLst>
          </p:cNvPr>
          <p:cNvSpPr/>
          <p:nvPr/>
        </p:nvSpPr>
        <p:spPr>
          <a:xfrm>
            <a:off x="184678" y="689343"/>
            <a:ext cx="502545" cy="53241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graphicFrame>
        <p:nvGraphicFramePr>
          <p:cNvPr id="12" name="جدول 11">
            <a:extLst>
              <a:ext uri="{FF2B5EF4-FFF2-40B4-BE49-F238E27FC236}">
                <a16:creationId xmlns:a16="http://schemas.microsoft.com/office/drawing/2014/main" id="{85259BDF-9E52-9377-EBF3-8A2901EB5BDE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301054074"/>
              </p:ext>
            </p:extLst>
          </p:nvPr>
        </p:nvGraphicFramePr>
        <p:xfrm>
          <a:off x="395652" y="3009370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794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853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0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تصنف ٢س + ٣. على أنها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وحيدة حد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ثنائية حد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ثلاثية حد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ليس </a:t>
                      </a:r>
                      <a:r>
                        <a:rPr lang="ar-SA" sz="1200" b="1" dirty="0" err="1"/>
                        <a:t>مماذكر</a:t>
                      </a:r>
                      <a:endParaRPr lang="ar-SA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3" name="جدول 12">
            <a:extLst>
              <a:ext uri="{FF2B5EF4-FFF2-40B4-BE49-F238E27FC236}">
                <a16:creationId xmlns:a16="http://schemas.microsoft.com/office/drawing/2014/main" id="{FB2A9231-57DF-6B93-649C-C90B02B7C941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4200282714"/>
              </p:ext>
            </p:extLst>
          </p:nvPr>
        </p:nvGraphicFramePr>
        <p:xfrm>
          <a:off x="395652" y="3562062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9046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العبارة التي </a:t>
                      </a:r>
                      <a:r>
                        <a:rPr lang="ar-SA" sz="1200" b="1" u="sng" dirty="0"/>
                        <a:t>لا تمثل </a:t>
                      </a:r>
                      <a:r>
                        <a:rPr lang="ar-SA" sz="1200" b="1" dirty="0"/>
                        <a:t>وحيدة حد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  <a:r>
                        <a:rPr lang="ar-SA" sz="1200" b="1" baseline="30000" dirty="0"/>
                        <a:t>٢ 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 ج </a:t>
                      </a:r>
                      <a:r>
                        <a:rPr lang="ar-SA" sz="1200" b="1" baseline="30000" dirty="0"/>
                        <a:t>-٥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 ب</a:t>
                      </a:r>
                      <a:r>
                        <a:rPr lang="ar-SA" sz="1200" b="1" baseline="30000" dirty="0"/>
                        <a:t>٤ </a:t>
                      </a:r>
                      <a:r>
                        <a:rPr lang="ar-SA" sz="1200" b="1" baseline="0" dirty="0"/>
                        <a:t>ج </a:t>
                      </a:r>
                      <a:r>
                        <a:rPr lang="ar-SA" sz="1200" b="1" baseline="30000" dirty="0"/>
                        <a:t>٧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 ٩ ب 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6" name="جدول 15">
            <a:extLst>
              <a:ext uri="{FF2B5EF4-FFF2-40B4-BE49-F238E27FC236}">
                <a16:creationId xmlns:a16="http://schemas.microsoft.com/office/drawing/2014/main" id="{B9F99168-F85C-0774-81A3-33C480488D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5671839"/>
              </p:ext>
            </p:extLst>
          </p:nvPr>
        </p:nvGraphicFramePr>
        <p:xfrm>
          <a:off x="395652" y="4119788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6924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9554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0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بسط العبارة   (٦ن</a:t>
                      </a:r>
                      <a:r>
                        <a:rPr lang="ar-SA" sz="1200" b="1" baseline="30000" dirty="0"/>
                        <a:t>٣ </a:t>
                      </a:r>
                      <a:r>
                        <a:rPr lang="ar-SA" sz="1200" b="1" baseline="0" dirty="0"/>
                        <a:t>) (٢ ن </a:t>
                      </a:r>
                      <a:r>
                        <a:rPr lang="ar-SA" sz="1400" b="1" baseline="30000" dirty="0"/>
                        <a:t>٧</a:t>
                      </a:r>
                      <a:r>
                        <a:rPr lang="ar-SA" sz="1200" b="1" baseline="30000" dirty="0"/>
                        <a:t> </a:t>
                      </a:r>
                      <a:r>
                        <a:rPr lang="ar-SA" sz="1200" b="1" baseline="0" dirty="0"/>
                        <a:t>) </a:t>
                      </a:r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١٢ ن</a:t>
                      </a:r>
                      <a:r>
                        <a:rPr lang="ar-SA" sz="1200" b="1" baseline="30000" dirty="0"/>
                        <a:t>١٠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١٢ ن</a:t>
                      </a:r>
                      <a:r>
                        <a:rPr lang="ar-SA" sz="1200" b="1" baseline="30000" dirty="0"/>
                        <a:t>١٢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٨ </a:t>
                      </a:r>
                      <a:r>
                        <a:rPr lang="ar-SA" sz="1200" b="1" baseline="0" dirty="0"/>
                        <a:t>ن</a:t>
                      </a:r>
                      <a:r>
                        <a:rPr lang="ar-SA" sz="1200" b="1" baseline="30000" dirty="0"/>
                        <a:t>١٠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 ٤ ن</a:t>
                      </a:r>
                      <a:r>
                        <a:rPr lang="ar-SA" sz="1200" b="1" baseline="30000" dirty="0"/>
                        <a:t>٦</a:t>
                      </a:r>
                      <a:endParaRPr lang="ar-SA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7" name="جدول 16">
            <a:extLst>
              <a:ext uri="{FF2B5EF4-FFF2-40B4-BE49-F238E27FC236}">
                <a16:creationId xmlns:a16="http://schemas.microsoft.com/office/drawing/2014/main" id="{3360B491-8388-8A42-33CC-0D96AED9E2EC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915593972"/>
              </p:ext>
            </p:extLst>
          </p:nvPr>
        </p:nvGraphicFramePr>
        <p:xfrm>
          <a:off x="395652" y="4677719"/>
          <a:ext cx="6259148" cy="733546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89623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75164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97830">
                <a:tc>
                  <a:txBody>
                    <a:bodyPr/>
                    <a:lstStyle/>
                    <a:p>
                      <a:pPr rtl="1"/>
                      <a:r>
                        <a:rPr lang="ar-SA" sz="1200" b="0" dirty="0"/>
                        <a:t>4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بسط العبارة </a:t>
                      </a:r>
                    </a:p>
                    <a:p>
                      <a:pPr rtl="1"/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 ب</a:t>
                      </a:r>
                      <a:r>
                        <a:rPr lang="ar-SA" sz="1200" b="1" baseline="30000" dirty="0"/>
                        <a:t>٣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  <a:r>
                        <a:rPr lang="ar-SA" sz="1200" b="1" baseline="30000" dirty="0"/>
                        <a:t>٧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  <a:r>
                        <a:rPr lang="ar-SA" sz="1200" b="1" baseline="30000" dirty="0"/>
                        <a:t>٤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ب</a:t>
                      </a:r>
                      <a:r>
                        <a:rPr lang="ar-SA" sz="1200" b="1" baseline="30000" dirty="0"/>
                        <a:t>١١</a:t>
                      </a:r>
                      <a:endParaRPr lang="ar-SA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8" name="جدول 17">
            <a:extLst>
              <a:ext uri="{FF2B5EF4-FFF2-40B4-BE49-F238E27FC236}">
                <a16:creationId xmlns:a16="http://schemas.microsoft.com/office/drawing/2014/main" id="{9AD07073-9BF9-4E75-3754-25E66FB27A61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019535317"/>
              </p:ext>
            </p:extLst>
          </p:nvPr>
        </p:nvGraphicFramePr>
        <p:xfrm>
          <a:off x="395652" y="5414659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89623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75164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0" dirty="0"/>
                        <a:t>5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بسط العبارة ( هـ</a:t>
                      </a:r>
                      <a:r>
                        <a:rPr lang="ar-SA" sz="1200" b="1" baseline="30000" dirty="0"/>
                        <a:t>٣</a:t>
                      </a:r>
                      <a:r>
                        <a:rPr lang="ar-SA" sz="1200" b="1" baseline="0" dirty="0"/>
                        <a:t>)</a:t>
                      </a:r>
                      <a:r>
                        <a:rPr lang="ar-SA" sz="1200" b="1" baseline="30000" dirty="0"/>
                        <a:t>٤</a:t>
                      </a:r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هـ </a:t>
                      </a:r>
                      <a:r>
                        <a:rPr lang="ar-SA" sz="1200" b="1" baseline="30000" dirty="0"/>
                        <a:t>٣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هـ </a:t>
                      </a:r>
                      <a:r>
                        <a:rPr lang="ar-SA" sz="1200" b="1" baseline="30000" dirty="0"/>
                        <a:t>١٢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هـ</a:t>
                      </a:r>
                      <a:r>
                        <a:rPr lang="ar-SA" sz="1200" b="1" baseline="30000" dirty="0"/>
                        <a:t>٢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هـ</a:t>
                      </a:r>
                      <a:r>
                        <a:rPr lang="ar-SA" sz="1200" b="1" baseline="30000" dirty="0"/>
                        <a:t>١</a:t>
                      </a:r>
                      <a:endParaRPr lang="ar-SA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cxnSp>
        <p:nvCxnSpPr>
          <p:cNvPr id="20" name="رابط مستقيم 19">
            <a:extLst>
              <a:ext uri="{FF2B5EF4-FFF2-40B4-BE49-F238E27FC236}">
                <a16:creationId xmlns:a16="http://schemas.microsoft.com/office/drawing/2014/main" id="{C2F36638-2ADB-A52E-3ED6-CCF562E0C6D3}"/>
              </a:ext>
            </a:extLst>
          </p:cNvPr>
          <p:cNvCxnSpPr>
            <a:cxnSpLocks/>
          </p:cNvCxnSpPr>
          <p:nvPr/>
        </p:nvCxnSpPr>
        <p:spPr>
          <a:xfrm flipH="1">
            <a:off x="5085080" y="4875257"/>
            <a:ext cx="232622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مجموعة 22">
            <a:extLst>
              <a:ext uri="{FF2B5EF4-FFF2-40B4-BE49-F238E27FC236}">
                <a16:creationId xmlns:a16="http://schemas.microsoft.com/office/drawing/2014/main" id="{2F184782-96FB-1BDC-EDE6-91FC774DFBAB}"/>
              </a:ext>
            </a:extLst>
          </p:cNvPr>
          <p:cNvGrpSpPr/>
          <p:nvPr/>
        </p:nvGrpSpPr>
        <p:grpSpPr>
          <a:xfrm>
            <a:off x="4970780" y="4663205"/>
            <a:ext cx="461222" cy="432498"/>
            <a:chOff x="5308600" y="2538965"/>
            <a:chExt cx="461222" cy="432498"/>
          </a:xfrm>
        </p:grpSpPr>
        <p:sp>
          <p:nvSpPr>
            <p:cNvPr id="21" name="مستطيل 20">
              <a:extLst>
                <a:ext uri="{FF2B5EF4-FFF2-40B4-BE49-F238E27FC236}">
                  <a16:creationId xmlns:a16="http://schemas.microsoft.com/office/drawing/2014/main" id="{2AACC43D-4BFD-1FA3-C6BE-DB6B3544C1A0}"/>
                </a:ext>
              </a:extLst>
            </p:cNvPr>
            <p:cNvSpPr/>
            <p:nvPr/>
          </p:nvSpPr>
          <p:spPr>
            <a:xfrm>
              <a:off x="5308600" y="2538965"/>
              <a:ext cx="410422" cy="2046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ar-SA" sz="1200" b="1" dirty="0"/>
                <a:t>ب</a:t>
              </a:r>
              <a:r>
                <a:rPr lang="ar-SA" sz="1200" b="1" baseline="30000" dirty="0"/>
                <a:t>٧ </a:t>
              </a:r>
              <a:endParaRPr lang="ar-SA" sz="1200" b="1" dirty="0"/>
            </a:p>
          </p:txBody>
        </p:sp>
        <p:sp>
          <p:nvSpPr>
            <p:cNvPr id="22" name="مستطيل 21">
              <a:extLst>
                <a:ext uri="{FF2B5EF4-FFF2-40B4-BE49-F238E27FC236}">
                  <a16:creationId xmlns:a16="http://schemas.microsoft.com/office/drawing/2014/main" id="{C9A2B2DF-F7B8-BCF2-3CEA-DFEDED1BFDFE}"/>
                </a:ext>
              </a:extLst>
            </p:cNvPr>
            <p:cNvSpPr/>
            <p:nvPr/>
          </p:nvSpPr>
          <p:spPr>
            <a:xfrm>
              <a:off x="5359400" y="2766820"/>
              <a:ext cx="410422" cy="2046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ar-SA" sz="1200" dirty="0"/>
                <a:t> </a:t>
              </a:r>
              <a:r>
                <a:rPr lang="ar-SA" sz="1200" b="1" dirty="0"/>
                <a:t>ب</a:t>
              </a:r>
              <a:r>
                <a:rPr lang="ar-SA" sz="1200" b="1" baseline="30000" dirty="0"/>
                <a:t>٤ </a:t>
              </a:r>
              <a:endParaRPr lang="ar-SA" sz="1200" b="1" dirty="0"/>
            </a:p>
          </p:txBody>
        </p:sp>
      </p:grpSp>
      <p:graphicFrame>
        <p:nvGraphicFramePr>
          <p:cNvPr id="29" name="جدول 28">
            <a:extLst>
              <a:ext uri="{FF2B5EF4-FFF2-40B4-BE49-F238E27FC236}">
                <a16:creationId xmlns:a16="http://schemas.microsoft.com/office/drawing/2014/main" id="{B6EA25FC-7DFC-074D-8539-B272DEB2A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100890"/>
              </p:ext>
            </p:extLst>
          </p:nvPr>
        </p:nvGraphicFramePr>
        <p:xfrm>
          <a:off x="395652" y="5967351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89623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75164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0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بسط العبارة  ( ٢ أ )</a:t>
                      </a:r>
                      <a:r>
                        <a:rPr lang="ar-SA" sz="1200" b="1" baseline="30000" dirty="0"/>
                        <a:t>٠ </a:t>
                      </a:r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30" name="جدول 29">
            <a:extLst>
              <a:ext uri="{FF2B5EF4-FFF2-40B4-BE49-F238E27FC236}">
                <a16:creationId xmlns:a16="http://schemas.microsoft.com/office/drawing/2014/main" id="{31DDABBC-68D1-C6FF-EA6C-A85B34E07D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2165079"/>
              </p:ext>
            </p:extLst>
          </p:nvPr>
        </p:nvGraphicFramePr>
        <p:xfrm>
          <a:off x="395652" y="6513299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89623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75164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0" dirty="0"/>
                        <a:t>7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عدد الحلول الخقيقية للمعادلة س</a:t>
                      </a:r>
                      <a:r>
                        <a:rPr lang="ar-SA" sz="1200" b="1" baseline="30000" dirty="0"/>
                        <a:t>٢</a:t>
                      </a:r>
                      <a:r>
                        <a:rPr lang="ar-SA" sz="1200" b="1" baseline="0" dirty="0"/>
                        <a:t> -٢س +٣=٠</a:t>
                      </a:r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حل حقيقي واحد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حلان حقيقيان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ثلاثة حلول حقيقية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لايوجد حل حقيقي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39" name="جدول 38">
            <a:extLst>
              <a:ext uri="{FF2B5EF4-FFF2-40B4-BE49-F238E27FC236}">
                <a16:creationId xmlns:a16="http://schemas.microsoft.com/office/drawing/2014/main" id="{593EAB7B-72F5-8698-37BD-66F2D21FD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44713"/>
              </p:ext>
            </p:extLst>
          </p:nvPr>
        </p:nvGraphicFramePr>
        <p:xfrm>
          <a:off x="398780" y="7070933"/>
          <a:ext cx="6256020" cy="733546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81709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98572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297397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/>
                        <a:t>8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/>
                        <a:t>أي مما يأتي ‏تبين الصورة القياسية لكثرة الحدود : </a:t>
                      </a:r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/>
                        <a:t>أ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/>
                        <a:t>٥ س </a:t>
                      </a:r>
                      <a:r>
                        <a:rPr lang="ar-SA" sz="1200" b="1" baseline="30000"/>
                        <a:t>٣ </a:t>
                      </a:r>
                      <a:r>
                        <a:rPr lang="ar-SA" sz="1200" b="1" baseline="0"/>
                        <a:t>– ٢ س + س</a:t>
                      </a:r>
                      <a:r>
                        <a:rPr lang="ar-SA" sz="1200" b="1" baseline="30000"/>
                        <a:t>٢ </a:t>
                      </a:r>
                      <a:r>
                        <a:rPr lang="ar-SA" sz="1200" b="1" baseline="0"/>
                        <a:t>-٤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/>
                        <a:t>ب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/>
                        <a:t>س</a:t>
                      </a:r>
                      <a:r>
                        <a:rPr lang="ar-SA" sz="1200" b="1" baseline="30000"/>
                        <a:t>٣</a:t>
                      </a:r>
                      <a:r>
                        <a:rPr lang="ar-SA" sz="1200" b="1" baseline="0"/>
                        <a:t>-٢س -٤+ ٥ س</a:t>
                      </a:r>
                      <a:r>
                        <a:rPr lang="ar-SA" sz="1200" b="1" baseline="30000"/>
                        <a:t>٣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/>
                        <a:t>ج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/>
                        <a:t>٥ س </a:t>
                      </a:r>
                      <a:r>
                        <a:rPr lang="ar-SA" sz="1200" b="1" baseline="30000"/>
                        <a:t>٣ </a:t>
                      </a:r>
                      <a:r>
                        <a:rPr lang="ar-SA" sz="1200" b="1" baseline="0"/>
                        <a:t>+س</a:t>
                      </a:r>
                      <a:r>
                        <a:rPr lang="ar-SA" sz="1200" b="1" baseline="30000"/>
                        <a:t>٢ </a:t>
                      </a:r>
                      <a:r>
                        <a:rPr lang="ar-SA" sz="1200" b="1" baseline="0"/>
                        <a:t>-٢ س -٤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/>
                        <a:t>د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-٤ -٢ س +س</a:t>
                      </a:r>
                      <a:r>
                        <a:rPr lang="ar-SA" sz="1200" b="1" baseline="30000" dirty="0"/>
                        <a:t>٢</a:t>
                      </a:r>
                      <a:r>
                        <a:rPr lang="ar-SA" sz="1200" b="1" baseline="0" dirty="0"/>
                        <a:t>+ س</a:t>
                      </a:r>
                      <a:r>
                        <a:rPr lang="ar-SA" sz="1200" b="1" baseline="30000" dirty="0"/>
                        <a:t>٣</a:t>
                      </a:r>
                      <a:endParaRPr lang="ar-SA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sp>
        <p:nvSpPr>
          <p:cNvPr id="2" name="عنصر نائب للتذييل 1">
            <a:extLst>
              <a:ext uri="{FF2B5EF4-FFF2-40B4-BE49-F238E27FC236}">
                <a16:creationId xmlns:a16="http://schemas.microsoft.com/office/drawing/2014/main" id="{4F779572-998A-A67C-61B3-80E5BC2D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EAB2DD2E-0608-3CFC-A5DF-6E802D52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1</a:t>
            </a:fld>
            <a:endParaRPr lang="ar-SA"/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0957F11C-768C-1399-BDD8-BA0FA99315EC}"/>
              </a:ext>
            </a:extLst>
          </p:cNvPr>
          <p:cNvSpPr txBox="1"/>
          <p:nvPr/>
        </p:nvSpPr>
        <p:spPr>
          <a:xfrm>
            <a:off x="985501" y="2653016"/>
            <a:ext cx="574643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400" b="1" dirty="0"/>
              <a:t>اختاري الإجابة الصحيحة بوضع دائرة حولها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1AADC533-2BE9-2CB2-F248-732F51501AA6}"/>
              </a:ext>
            </a:extLst>
          </p:cNvPr>
          <p:cNvSpPr/>
          <p:nvPr/>
        </p:nvSpPr>
        <p:spPr>
          <a:xfrm>
            <a:off x="312420" y="1563610"/>
            <a:ext cx="740397" cy="9572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1000" b="1" dirty="0"/>
              <a:t>اذكر الله ثم تأكدي أن عدد أوراقك 4 مختلفة </a:t>
            </a:r>
          </a:p>
        </p:txBody>
      </p:sp>
      <p:graphicFrame>
        <p:nvGraphicFramePr>
          <p:cNvPr id="26" name="جدول 25">
            <a:extLst>
              <a:ext uri="{FF2B5EF4-FFF2-40B4-BE49-F238E27FC236}">
                <a16:creationId xmlns:a16="http://schemas.microsoft.com/office/drawing/2014/main" id="{FF320F68-3D41-E9E1-8CCD-BEC89A76E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979540"/>
              </p:ext>
            </p:extLst>
          </p:nvPr>
        </p:nvGraphicFramePr>
        <p:xfrm>
          <a:off x="395652" y="7814139"/>
          <a:ext cx="6256020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81709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98572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297397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9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أوجد  ٣ م</a:t>
                      </a:r>
                      <a:r>
                        <a:rPr lang="ar-SA" sz="1200" b="1" baseline="30000" dirty="0"/>
                        <a:t>٢</a:t>
                      </a:r>
                      <a:r>
                        <a:rPr lang="ar-SA" sz="1200" b="1" baseline="0" dirty="0"/>
                        <a:t> ( ٢ م </a:t>
                      </a:r>
                      <a:r>
                        <a:rPr lang="ar-SA" sz="1200" b="1" baseline="30000" dirty="0"/>
                        <a:t>٢ </a:t>
                      </a:r>
                      <a:r>
                        <a:rPr lang="ar-SA" sz="1200" b="1" baseline="0" dirty="0"/>
                        <a:t>- م )</a:t>
                      </a:r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٥ م</a:t>
                      </a:r>
                      <a:r>
                        <a:rPr lang="ar-SA" sz="1200" b="1" baseline="30000" dirty="0"/>
                        <a:t>٤ </a:t>
                      </a:r>
                      <a:r>
                        <a:rPr lang="ar-SA" sz="1200" b="1" baseline="0" dirty="0"/>
                        <a:t>– ٣ م</a:t>
                      </a:r>
                      <a:r>
                        <a:rPr lang="ar-SA" sz="1200" b="1" baseline="30000" dirty="0"/>
                        <a:t>٣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٦ م</a:t>
                      </a:r>
                      <a:r>
                        <a:rPr lang="ar-SA" sz="1200" b="1" baseline="30000" dirty="0"/>
                        <a:t>٤ </a:t>
                      </a:r>
                      <a:r>
                        <a:rPr lang="ar-SA" sz="1200" b="1" baseline="0" dirty="0"/>
                        <a:t>– ٣ م </a:t>
                      </a:r>
                      <a:r>
                        <a:rPr lang="ar-SA" sz="1200" b="1" baseline="30000" dirty="0"/>
                        <a:t>٢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٥ م</a:t>
                      </a:r>
                      <a:r>
                        <a:rPr lang="ar-SA" sz="1200" b="1" baseline="30000" dirty="0"/>
                        <a:t>٤ </a:t>
                      </a:r>
                      <a:r>
                        <a:rPr lang="ar-SA" sz="1200" b="1" baseline="0" dirty="0"/>
                        <a:t>– ٣ م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٦ م</a:t>
                      </a:r>
                      <a:r>
                        <a:rPr lang="ar-SA" sz="1200" b="1" baseline="30000" dirty="0"/>
                        <a:t>٤ </a:t>
                      </a:r>
                      <a:r>
                        <a:rPr lang="ar-SA" sz="1200" b="1" baseline="0" dirty="0"/>
                        <a:t>– ٣ م</a:t>
                      </a:r>
                      <a:r>
                        <a:rPr lang="ar-SA" sz="1200" b="1" baseline="30000" dirty="0"/>
                        <a:t>٣</a:t>
                      </a:r>
                      <a:endParaRPr lang="ar-SA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25" name="جدول 24">
            <a:extLst>
              <a:ext uri="{FF2B5EF4-FFF2-40B4-BE49-F238E27FC236}">
                <a16:creationId xmlns:a16="http://schemas.microsoft.com/office/drawing/2014/main" id="{63AC3251-6AC3-814C-8E47-2C604EA5AA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7413053"/>
              </p:ext>
            </p:extLst>
          </p:nvPr>
        </p:nvGraphicFramePr>
        <p:xfrm>
          <a:off x="392524" y="8376491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07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64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10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‏بكم طريقة يمكن اختيار المراكز الستة الأولى من بين تسعة لاعبين في فريق التنس</a:t>
                      </a:r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٣٦٢٨٨٠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٧٢٠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٦٠٤٨٠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٨٤</a:t>
                      </a:r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20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C9B54319-9C67-47F4-D112-F6B14F5C60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3943068"/>
              </p:ext>
            </p:extLst>
          </p:nvPr>
        </p:nvGraphicFramePr>
        <p:xfrm>
          <a:off x="299426" y="479775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11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أوجدي ناتج ( س + ٢ )</a:t>
                      </a:r>
                      <a:r>
                        <a:rPr lang="ar-SA" sz="1200" b="1" baseline="30000" dirty="0"/>
                        <a:t>٢</a:t>
                      </a:r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س + ٢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س</a:t>
                      </a:r>
                      <a:r>
                        <a:rPr lang="ar-SA" sz="1200" b="1" baseline="30000" dirty="0"/>
                        <a:t>٢ </a:t>
                      </a:r>
                      <a:r>
                        <a:rPr lang="ar-SA" sz="1200" b="1" baseline="0" dirty="0"/>
                        <a:t>+٤! 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س</a:t>
                      </a:r>
                      <a:r>
                        <a:rPr lang="ar-SA" sz="1200" b="1" baseline="30000" dirty="0"/>
                        <a:t>٢</a:t>
                      </a:r>
                      <a:r>
                        <a:rPr lang="ar-SA" sz="1200" b="1" baseline="0" dirty="0"/>
                        <a:t>+٤س  +٤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س -٤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6" name="جدول 5">
            <a:extLst>
              <a:ext uri="{FF2B5EF4-FFF2-40B4-BE49-F238E27FC236}">
                <a16:creationId xmlns:a16="http://schemas.microsoft.com/office/drawing/2014/main" id="{0EF04DF9-8ECA-97B0-538E-A375C9A477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144014"/>
              </p:ext>
            </p:extLst>
          </p:nvPr>
        </p:nvGraphicFramePr>
        <p:xfrm>
          <a:off x="299426" y="1583399"/>
          <a:ext cx="6259148" cy="703066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13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حلل وحيدة الحد ١٢ س</a:t>
                      </a:r>
                      <a:r>
                        <a:rPr lang="ar-SA" sz="1200" b="1" baseline="30000" dirty="0"/>
                        <a:t>٣ </a:t>
                      </a:r>
                      <a:r>
                        <a:rPr lang="ar-SA" sz="1200" b="1" baseline="0" dirty="0"/>
                        <a:t>ص تحليلا كاملا </a:t>
                      </a:r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b="1" dirty="0"/>
                        <a:t>٢</a:t>
                      </a:r>
                      <a:r>
                        <a:rPr lang="en-GB" sz="1100" b="1" dirty="0"/>
                        <a:t>x</a:t>
                      </a:r>
                      <a:r>
                        <a:rPr lang="ar-SA" sz="1100" b="1" dirty="0"/>
                        <a:t>٣ </a:t>
                      </a:r>
                      <a:r>
                        <a:rPr lang="en-GB" sz="1100" b="1" dirty="0"/>
                        <a:t>x</a:t>
                      </a:r>
                      <a:r>
                        <a:rPr lang="ar-SA" sz="1100" b="1" dirty="0"/>
                        <a:t>٢</a:t>
                      </a:r>
                      <a:r>
                        <a:rPr lang="en-GB" sz="1100" b="1" dirty="0"/>
                        <a:t>x</a:t>
                      </a:r>
                      <a:r>
                        <a:rPr lang="ar-SA" sz="1100" b="1" dirty="0"/>
                        <a:t>س×س×س×ص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٤×٣×س×ص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٢</a:t>
                      </a:r>
                      <a:r>
                        <a:rPr lang="en-GB" sz="1200" b="1" dirty="0"/>
                        <a:t>x</a:t>
                      </a:r>
                      <a:r>
                        <a:rPr lang="ar-SA" sz="1200" b="1" dirty="0"/>
                        <a:t>٢</a:t>
                      </a:r>
                      <a:r>
                        <a:rPr lang="en-GB" sz="1200" b="1" dirty="0"/>
                        <a:t>x</a:t>
                      </a:r>
                      <a:r>
                        <a:rPr lang="ar-SA" sz="1200" b="1" dirty="0"/>
                        <a:t>٣×س×ص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١٢×س×س×س×ص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7" name="جدول 6">
            <a:extLst>
              <a:ext uri="{FF2B5EF4-FFF2-40B4-BE49-F238E27FC236}">
                <a16:creationId xmlns:a16="http://schemas.microsoft.com/office/drawing/2014/main" id="{CF412F76-E95F-0DC9-496E-F697F929C5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934329"/>
              </p:ext>
            </p:extLst>
          </p:nvPr>
        </p:nvGraphicFramePr>
        <p:xfrm>
          <a:off x="299426" y="2292863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14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باستعمال خاصية التوزيع تحليل العبارة٢ ك</a:t>
                      </a:r>
                      <a:r>
                        <a:rPr lang="ar-SA" sz="1200" b="1" baseline="30000" dirty="0"/>
                        <a:t>٢</a:t>
                      </a:r>
                      <a:r>
                        <a:rPr lang="ar-SA" sz="1200" b="1" dirty="0"/>
                        <a:t> + ٤ ك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٢ك ( ك + ٢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٢ ( ك + ٢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 ك  (ك+٢)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(ك+ ٢ )(ك+٤)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9" name="جدول 8">
            <a:extLst>
              <a:ext uri="{FF2B5EF4-FFF2-40B4-BE49-F238E27FC236}">
                <a16:creationId xmlns:a16="http://schemas.microsoft.com/office/drawing/2014/main" id="{D39C5B00-51FC-88E3-E7DF-E0F0E6923A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638139"/>
              </p:ext>
            </p:extLst>
          </p:nvPr>
        </p:nvGraphicFramePr>
        <p:xfrm>
          <a:off x="299426" y="2841751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15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ما القيمة الموجبة التي تحقق المعادلة ص = س</a:t>
                      </a:r>
                      <a:r>
                        <a:rPr lang="ar-SA" sz="1200" b="1" baseline="30000" dirty="0"/>
                        <a:t>٢</a:t>
                      </a:r>
                      <a:r>
                        <a:rPr lang="ar-SA" sz="1200" b="1" baseline="0" dirty="0"/>
                        <a:t>- ٩ </a:t>
                      </a:r>
                      <a:r>
                        <a:rPr lang="ar-SA" sz="1200" b="1" dirty="0"/>
                        <a:t>, اذا كانت ص = ٠ ؟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1435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-٩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1435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-٣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0" name="جدول 9">
            <a:extLst>
              <a:ext uri="{FF2B5EF4-FFF2-40B4-BE49-F238E27FC236}">
                <a16:creationId xmlns:a16="http://schemas.microsoft.com/office/drawing/2014/main" id="{E50F674C-1663-C1D8-F3F5-C1C9E53F0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898485"/>
              </p:ext>
            </p:extLst>
          </p:nvPr>
        </p:nvGraphicFramePr>
        <p:xfrm>
          <a:off x="299426" y="5053103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18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حلل     ل ف + ١٢ ل + ٨ف + ٩٦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(ل+ ٨ ) (ف +١٢)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(ل +٨)(ف + ٨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(ل ) (ف + ٨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 (ف + ١٢)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1" name="جدول 10">
            <a:extLst>
              <a:ext uri="{FF2B5EF4-FFF2-40B4-BE49-F238E27FC236}">
                <a16:creationId xmlns:a16="http://schemas.microsoft.com/office/drawing/2014/main" id="{EDE5F56F-B449-CD92-C421-130D31ECC7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5652183"/>
              </p:ext>
            </p:extLst>
          </p:nvPr>
        </p:nvGraphicFramePr>
        <p:xfrm>
          <a:off x="299426" y="3390088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16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حلل كثيرة الحدود     س٢</a:t>
                      </a:r>
                      <a:r>
                        <a:rPr lang="ar-SA" sz="1200" b="1" baseline="30000" dirty="0"/>
                        <a:t> </a:t>
                      </a:r>
                      <a:r>
                        <a:rPr lang="ar-SA" sz="1200" b="1" baseline="0" dirty="0"/>
                        <a:t>+ ١٦</a:t>
                      </a:r>
                      <a:r>
                        <a:rPr lang="ar-SA" sz="1200" b="1" dirty="0"/>
                        <a:t>         </a:t>
                      </a:r>
                      <a:r>
                        <a:rPr lang="ar-SA" sz="1200" b="1" baseline="0" dirty="0"/>
                        <a:t>أو أختر أولية </a:t>
                      </a:r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( س+ ٤) (س+٤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1435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(س +٤ ) (س-٤)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1435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(س-٤ )  (س-٤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أولية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2" name="جدول 11">
            <a:extLst>
              <a:ext uri="{FF2B5EF4-FFF2-40B4-BE49-F238E27FC236}">
                <a16:creationId xmlns:a16="http://schemas.microsoft.com/office/drawing/2014/main" id="{BBC28D58-CAAD-35E2-FE65-BA4C410D1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437403"/>
              </p:ext>
            </p:extLst>
          </p:nvPr>
        </p:nvGraphicFramePr>
        <p:xfrm>
          <a:off x="299426" y="3947398"/>
          <a:ext cx="6259148" cy="1099306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17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كثيرة الحدود التي تمثل </a:t>
                      </a:r>
                      <a:r>
                        <a:rPr lang="ar-SA" sz="1200" b="1" u="sng" dirty="0"/>
                        <a:t> محيط </a:t>
                      </a:r>
                      <a:r>
                        <a:rPr lang="ar-SA" sz="1200" b="1" dirty="0"/>
                        <a:t>المثلث </a:t>
                      </a:r>
                    </a:p>
                    <a:p>
                      <a:pPr rtl="1"/>
                      <a:endParaRPr lang="ar-SA" sz="1200" b="1" dirty="0"/>
                    </a:p>
                    <a:p>
                      <a:pPr rtl="1"/>
                      <a:endParaRPr lang="ar-SA" sz="1200" b="1" dirty="0"/>
                    </a:p>
                    <a:p>
                      <a:pPr rtl="1"/>
                      <a:endParaRPr lang="ar-SA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س-٤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٣ س + 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 س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٢ س +٢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3" name="جدول 12">
            <a:extLst>
              <a:ext uri="{FF2B5EF4-FFF2-40B4-BE49-F238E27FC236}">
                <a16:creationId xmlns:a16="http://schemas.microsoft.com/office/drawing/2014/main" id="{8E672804-5733-9C14-3B41-EED9FEC85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569714"/>
              </p:ext>
            </p:extLst>
          </p:nvPr>
        </p:nvGraphicFramePr>
        <p:xfrm>
          <a:off x="299426" y="5612534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19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اذا كان حاصل ضرب عاملين يساوي صفرا فيجب أن يكون أحدهما يساوي صفر تسمى بخاصية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النظير </a:t>
                      </a:r>
                      <a:r>
                        <a:rPr lang="ar-SA" sz="1200" b="1" dirty="0" err="1"/>
                        <a:t>الضربي</a:t>
                      </a:r>
                      <a:endParaRPr lang="ar-SA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الابدال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التجميعية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الضرب الصفري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6" name="جدول 15">
            <a:extLst>
              <a:ext uri="{FF2B5EF4-FFF2-40B4-BE49-F238E27FC236}">
                <a16:creationId xmlns:a16="http://schemas.microsoft.com/office/drawing/2014/main" id="{8B0C735E-02D8-9C7A-5C4F-A2980232C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90529"/>
              </p:ext>
            </p:extLst>
          </p:nvPr>
        </p:nvGraphicFramePr>
        <p:xfrm>
          <a:off x="299426" y="6171965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20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>
                          <a:solidFill>
                            <a:schemeClr val="tx1"/>
                          </a:solidFill>
                        </a:rPr>
                        <a:t>‏ما قيمة ج التي تجعل ص</a:t>
                      </a:r>
                      <a:r>
                        <a:rPr lang="ar-SA" sz="1200" b="1" baseline="30000" dirty="0">
                          <a:solidFill>
                            <a:schemeClr val="tx1"/>
                          </a:solidFill>
                        </a:rPr>
                        <a:t>٢ </a:t>
                      </a:r>
                      <a:r>
                        <a:rPr lang="ar-SA" sz="1200" b="1" baseline="0" dirty="0">
                          <a:solidFill>
                            <a:schemeClr val="tx1"/>
                          </a:solidFill>
                        </a:rPr>
                        <a:t>+ ٨ ص + ج</a:t>
                      </a:r>
                      <a:r>
                        <a:rPr lang="ar-SA" sz="1200" b="1" dirty="0">
                          <a:solidFill>
                            <a:schemeClr val="tx1"/>
                          </a:solidFill>
                        </a:rPr>
                        <a:t> مربعا كامل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baseline="0" dirty="0"/>
                        <a:t>١٦</a:t>
                      </a:r>
                      <a:endParaRPr lang="ar-SA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٦٤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sp>
        <p:nvSpPr>
          <p:cNvPr id="17" name="عنصر نائب للتذييل 16">
            <a:extLst>
              <a:ext uri="{FF2B5EF4-FFF2-40B4-BE49-F238E27FC236}">
                <a16:creationId xmlns:a16="http://schemas.microsoft.com/office/drawing/2014/main" id="{1F91007F-BE16-95EE-E762-1E0E69B8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18" name="عنصر نائب لرقم الشريحة 17">
            <a:extLst>
              <a:ext uri="{FF2B5EF4-FFF2-40B4-BE49-F238E27FC236}">
                <a16:creationId xmlns:a16="http://schemas.microsoft.com/office/drawing/2014/main" id="{EB3DCF64-0D89-1482-9F19-F323994F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2</a:t>
            </a:fld>
            <a:endParaRPr lang="ar-SA"/>
          </a:p>
        </p:txBody>
      </p:sp>
      <p:pic>
        <p:nvPicPr>
          <p:cNvPr id="20" name="صورة 19">
            <a:extLst>
              <a:ext uri="{FF2B5EF4-FFF2-40B4-BE49-F238E27FC236}">
                <a16:creationId xmlns:a16="http://schemas.microsoft.com/office/drawing/2014/main" id="{88016BB2-FC81-00FF-6491-AB8295226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40" y="4043377"/>
            <a:ext cx="1642498" cy="639307"/>
          </a:xfrm>
          <a:prstGeom prst="rect">
            <a:avLst/>
          </a:prstGeom>
        </p:spPr>
      </p:pic>
      <p:graphicFrame>
        <p:nvGraphicFramePr>
          <p:cNvPr id="14" name="جدول 13">
            <a:extLst>
              <a:ext uri="{FF2B5EF4-FFF2-40B4-BE49-F238E27FC236}">
                <a16:creationId xmlns:a16="http://schemas.microsoft.com/office/drawing/2014/main" id="{42526EC2-9D39-FA53-6A61-74AD0B531F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4744638"/>
              </p:ext>
            </p:extLst>
          </p:nvPr>
        </p:nvGraphicFramePr>
        <p:xfrm>
          <a:off x="299426" y="1034498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12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en-GB" sz="1200" b="1" dirty="0"/>
                        <a:t> </a:t>
                      </a:r>
                      <a:r>
                        <a:rPr lang="ar-SA" sz="1200" b="1" dirty="0"/>
                        <a:t>أوجد قيمة </a:t>
                      </a:r>
                      <a:r>
                        <a:rPr lang="ar-SA" sz="1200" b="1" baseline="30000" dirty="0"/>
                        <a:t>١٢</a:t>
                      </a:r>
                      <a:r>
                        <a:rPr lang="ar-SA" sz="1200" b="1" baseline="0" dirty="0"/>
                        <a:t>ل</a:t>
                      </a:r>
                      <a:r>
                        <a:rPr lang="ar-SA" sz="1200" b="1" baseline="-25000" dirty="0"/>
                        <a:t>٤</a:t>
                      </a:r>
                      <a:endParaRPr lang="ar-SA" sz="1200" b="1" dirty="0"/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١١٨٨٠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٤٩٥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٩٦</a:t>
                      </a:r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32" name="جدول 31">
            <a:extLst>
              <a:ext uri="{FF2B5EF4-FFF2-40B4-BE49-F238E27FC236}">
                <a16:creationId xmlns:a16="http://schemas.microsoft.com/office/drawing/2014/main" id="{CB4DD87B-B78D-8E1D-5DF8-2FC3A933B0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072914"/>
              </p:ext>
            </p:extLst>
          </p:nvPr>
        </p:nvGraphicFramePr>
        <p:xfrm>
          <a:off x="299426" y="6717794"/>
          <a:ext cx="6259148" cy="1072043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21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‏ما جذور المعادلة التربيعية المرتبطة بالدالة الممثلة في الشكل المجاور</a:t>
                      </a:r>
                      <a:endParaRPr lang="en-GB" sz="1200" b="1" dirty="0"/>
                    </a:p>
                    <a:p>
                      <a:pPr rtl="1"/>
                      <a:endParaRPr lang="ar-SA" sz="1200" b="1" dirty="0"/>
                    </a:p>
                    <a:p>
                      <a:pPr rtl="1"/>
                      <a:endParaRPr lang="ar-SA" sz="1200" b="1" dirty="0"/>
                    </a:p>
                    <a:p>
                      <a:pPr rtl="1"/>
                      <a:endParaRPr lang="ar-SA" sz="1200" b="1" dirty="0"/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-١ ، 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٢ ،٣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- ٣ ، ١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١ ، ٣</a:t>
                      </a:r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pic>
        <p:nvPicPr>
          <p:cNvPr id="35" name="صورة 34">
            <a:extLst>
              <a:ext uri="{FF2B5EF4-FFF2-40B4-BE49-F238E27FC236}">
                <a16:creationId xmlns:a16="http://schemas.microsoft.com/office/drawing/2014/main" id="{62CB3C48-D142-0758-81B7-E522621011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41" t="11023" r="11762" b="64995"/>
          <a:stretch>
            <a:fillRect/>
          </a:stretch>
        </p:blipFill>
        <p:spPr>
          <a:xfrm>
            <a:off x="372040" y="6724657"/>
            <a:ext cx="1264792" cy="768751"/>
          </a:xfrm>
          <a:prstGeom prst="rect">
            <a:avLst/>
          </a:prstGeom>
        </p:spPr>
      </p:pic>
      <p:pic>
        <p:nvPicPr>
          <p:cNvPr id="39" name="صورة 38">
            <a:extLst>
              <a:ext uri="{FF2B5EF4-FFF2-40B4-BE49-F238E27FC236}">
                <a16:creationId xmlns:a16="http://schemas.microsoft.com/office/drawing/2014/main" id="{DEF8E41B-8065-61A9-7F0B-8A70761D30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41" t="63693" r="11762" b="11705"/>
          <a:stretch>
            <a:fillRect/>
          </a:stretch>
        </p:blipFill>
        <p:spPr>
          <a:xfrm>
            <a:off x="372040" y="7776836"/>
            <a:ext cx="1264792" cy="788615"/>
          </a:xfrm>
          <a:prstGeom prst="rect">
            <a:avLst/>
          </a:prstGeom>
        </p:spPr>
      </p:pic>
      <p:graphicFrame>
        <p:nvGraphicFramePr>
          <p:cNvPr id="37" name="جدول 36">
            <a:extLst>
              <a:ext uri="{FF2B5EF4-FFF2-40B4-BE49-F238E27FC236}">
                <a16:creationId xmlns:a16="http://schemas.microsoft.com/office/drawing/2014/main" id="{EA5CA024-3107-EB3F-E634-EE1C4D418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7647079"/>
              </p:ext>
            </p:extLst>
          </p:nvPr>
        </p:nvGraphicFramePr>
        <p:xfrm>
          <a:off x="299424" y="7789837"/>
          <a:ext cx="6259150" cy="1194856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599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9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9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9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583128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22</a:t>
                      </a:r>
                      <a:endParaRPr lang="ar-SA" sz="1200" b="0" dirty="0"/>
                    </a:p>
                  </a:txBody>
                  <a:tcPr marL="48788" marR="48788" marT="24394" marB="24394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endParaRPr lang="ar-SA" sz="1200" b="1" dirty="0"/>
                    </a:p>
                    <a:p>
                      <a:pPr rtl="1"/>
                      <a:r>
                        <a:rPr lang="ar-SA" sz="1200" b="1" dirty="0"/>
                        <a:t>‏حدد مدى الدالة</a:t>
                      </a:r>
                    </a:p>
                    <a:p>
                      <a:pPr rtl="1"/>
                      <a:endParaRPr lang="ar-SA" sz="1200" b="1" dirty="0"/>
                    </a:p>
                    <a:p>
                      <a:pPr rtl="1"/>
                      <a:endParaRPr lang="ar-SA" sz="1200" b="1" dirty="0"/>
                    </a:p>
                  </a:txBody>
                  <a:tcPr marL="48788" marR="48788" marT="24394" marB="24394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199947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48788" marR="48788" marT="24394" marB="24394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GB" sz="1200" b="1" dirty="0"/>
                        <a:t>}</a:t>
                      </a:r>
                      <a:r>
                        <a:rPr lang="ar-SA" sz="1200" b="1" dirty="0"/>
                        <a:t>ص : ص &lt; ١}</a:t>
                      </a:r>
                    </a:p>
                  </a:txBody>
                  <a:tcPr marL="48788" marR="48788" marT="24394" marB="24394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48788" marR="48788" marT="24394" marB="24394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GB" sz="1200" b="1" dirty="0"/>
                        <a:t>}</a:t>
                      </a:r>
                      <a:r>
                        <a:rPr lang="ar-SA" sz="1200" b="1" dirty="0"/>
                        <a:t>ص : ص &gt; ٢}</a:t>
                      </a:r>
                    </a:p>
                  </a:txBody>
                  <a:tcPr marL="48788" marR="48788" marT="24394" marB="24394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48788" marR="48788" marT="24394" marB="24394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GB" sz="1200" b="1" dirty="0"/>
                        <a:t>}</a:t>
                      </a:r>
                      <a:r>
                        <a:rPr lang="ar-SA" sz="1200" b="1" dirty="0"/>
                        <a:t>ص : ص &gt; - ١}</a:t>
                      </a:r>
                    </a:p>
                  </a:txBody>
                  <a:tcPr marL="48788" marR="48788" marT="24394" marB="24394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48788" marR="48788" marT="24394" marB="24394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مجموعة الإعداد الحقيقية</a:t>
                      </a:r>
                    </a:p>
                  </a:txBody>
                  <a:tcPr marL="48788" marR="48788" marT="24394" marB="24394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cxnSp>
        <p:nvCxnSpPr>
          <p:cNvPr id="40" name="رابط كسهم مستقيم 39">
            <a:extLst>
              <a:ext uri="{FF2B5EF4-FFF2-40B4-BE49-F238E27FC236}">
                <a16:creationId xmlns:a16="http://schemas.microsoft.com/office/drawing/2014/main" id="{430E8400-05FB-EF97-641F-08C26F411C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341418" y="8721797"/>
            <a:ext cx="73891" cy="3427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187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صورة 101">
            <a:extLst>
              <a:ext uri="{FF2B5EF4-FFF2-40B4-BE49-F238E27FC236}">
                <a16:creationId xmlns:a16="http://schemas.microsoft.com/office/drawing/2014/main" id="{24619E05-FB74-981C-62A2-FA7CBAE0DA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511" t="29770" r="11407" b="66398"/>
          <a:stretch>
            <a:fillRect/>
          </a:stretch>
        </p:blipFill>
        <p:spPr>
          <a:xfrm>
            <a:off x="4888235" y="2185097"/>
            <a:ext cx="751974" cy="373776"/>
          </a:xfrm>
          <a:prstGeom prst="rect">
            <a:avLst/>
          </a:prstGeom>
        </p:spPr>
      </p:pic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49B50D92-92D7-B5C3-92C8-406CDBC9D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64893"/>
              </p:ext>
            </p:extLst>
          </p:nvPr>
        </p:nvGraphicFramePr>
        <p:xfrm>
          <a:off x="471488" y="415769"/>
          <a:ext cx="6259148" cy="55269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23</a:t>
                      </a:r>
                      <a:endParaRPr lang="ar-SA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800" b="1" baseline="30000" dirty="0"/>
                        <a:t>‏يسمى الضلع المقابل للزاوية القائمة في المثلث القائم الزاوية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6346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الساق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الوتر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النسبة المثلثية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معكوس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7F9FCA8-EAB0-534E-979D-58FE0792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اقلبي الصفحة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497DBAD-C2C7-D7E0-A675-53A0F56D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D59E-AF41-49FF-A3D6-241DD8B9305B}" type="slidenum">
              <a:rPr lang="ar-SA" smtClean="0"/>
              <a:t>3</a:t>
            </a:fld>
            <a:endParaRPr lang="ar-SA"/>
          </a:p>
        </p:txBody>
      </p:sp>
      <p:graphicFrame>
        <p:nvGraphicFramePr>
          <p:cNvPr id="26" name="جدول 25">
            <a:extLst>
              <a:ext uri="{FF2B5EF4-FFF2-40B4-BE49-F238E27FC236}">
                <a16:creationId xmlns:a16="http://schemas.microsoft.com/office/drawing/2014/main" id="{AE3BC590-5A76-E5DE-22DC-56AABD6AFC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1836054"/>
              </p:ext>
            </p:extLst>
          </p:nvPr>
        </p:nvGraphicFramePr>
        <p:xfrm>
          <a:off x="468395" y="968364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24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بسط العبارة     ٩٠ س</a:t>
                      </a:r>
                      <a:r>
                        <a:rPr lang="ar-SA" sz="1200" b="1" baseline="30000" dirty="0"/>
                        <a:t>٦</a:t>
                      </a:r>
                      <a:endParaRPr lang="ar-SA" sz="1200" b="1" dirty="0"/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٩  ١٠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 س</a:t>
                      </a:r>
                      <a:r>
                        <a:rPr lang="ar-SA" sz="1200" b="1" baseline="30000" dirty="0"/>
                        <a:t>٣</a:t>
                      </a:r>
                      <a:r>
                        <a:rPr lang="ar-SA" sz="1200" b="1" baseline="0" dirty="0"/>
                        <a:t>   ١٠ </a:t>
                      </a:r>
                      <a:r>
                        <a:rPr lang="ar-SA" sz="1200" b="1" dirty="0"/>
                        <a:t> 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٣ |س</a:t>
                      </a:r>
                      <a:r>
                        <a:rPr lang="ar-SA" sz="1200" b="1" baseline="30000" dirty="0"/>
                        <a:t>٣</a:t>
                      </a:r>
                      <a:r>
                        <a:rPr lang="en-GB" sz="1200" b="1" baseline="0" dirty="0"/>
                        <a:t>|</a:t>
                      </a:r>
                      <a:r>
                        <a:rPr lang="ar-SA" sz="1200" b="1" baseline="0" dirty="0"/>
                        <a:t> ١٠   </a:t>
                      </a:r>
                      <a:endParaRPr lang="ar-SA" sz="1200" b="1" dirty="0"/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س   ٣٠</a:t>
                      </a:r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28" name="جدول 27">
            <a:extLst>
              <a:ext uri="{FF2B5EF4-FFF2-40B4-BE49-F238E27FC236}">
                <a16:creationId xmlns:a16="http://schemas.microsoft.com/office/drawing/2014/main" id="{B49F180E-093E-55B3-0164-C4D8C76695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0679906"/>
              </p:ext>
            </p:extLst>
          </p:nvPr>
        </p:nvGraphicFramePr>
        <p:xfrm>
          <a:off x="468395" y="1525931"/>
          <a:ext cx="6259148" cy="706283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25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‏بس العبارة.         </a:t>
                      </a:r>
                      <a:r>
                        <a:rPr lang="ar-SA" sz="1200" b="1" baseline="30000" dirty="0"/>
                        <a:t>٦٠</a:t>
                      </a:r>
                      <a:endParaRPr lang="ar-SA" sz="1200" b="1" dirty="0"/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b="1" dirty="0"/>
                    </a:p>
                    <a:p>
                      <a:pPr algn="ctr" rtl="1"/>
                      <a:endParaRPr lang="ar-SA" sz="1200" b="1" dirty="0"/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b="1" dirty="0"/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٣٠</a:t>
                      </a:r>
                    </a:p>
                    <a:p>
                      <a:pPr algn="ctr" rtl="1"/>
                      <a:r>
                        <a:rPr lang="ar-SA" sz="1200" b="1" dirty="0"/>
                        <a:t>٢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1" dirty="0"/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حبر 9">
                <a:extLst>
                  <a:ext uri="{FF2B5EF4-FFF2-40B4-BE49-F238E27FC236}">
                    <a16:creationId xmlns:a16="http://schemas.microsoft.com/office/drawing/2014/main" id="{FA799153-6D0E-DCBD-6B1D-F81E794C40A1}"/>
                  </a:ext>
                </a:extLst>
              </p14:cNvPr>
              <p14:cNvContentPartPr/>
              <p14:nvPr/>
            </p14:nvContentPartPr>
            <p14:xfrm>
              <a:off x="5200595" y="1009471"/>
              <a:ext cx="389798" cy="170576"/>
            </p14:xfrm>
          </p:contentPart>
        </mc:Choice>
        <mc:Fallback xmlns="">
          <p:pic>
            <p:nvPicPr>
              <p:cNvPr id="10" name="حبر 9">
                <a:extLst>
                  <a:ext uri="{FF2B5EF4-FFF2-40B4-BE49-F238E27FC236}">
                    <a16:creationId xmlns:a16="http://schemas.microsoft.com/office/drawing/2014/main" id="{FA799153-6D0E-DCBD-6B1D-F81E794C40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0148" y="999057"/>
                <a:ext cx="409972" cy="190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حبر 13">
                <a:extLst>
                  <a:ext uri="{FF2B5EF4-FFF2-40B4-BE49-F238E27FC236}">
                    <a16:creationId xmlns:a16="http://schemas.microsoft.com/office/drawing/2014/main" id="{4532DB37-EBB9-9588-4DE4-6944AE7D7BFB}"/>
                  </a:ext>
                </a:extLst>
              </p14:cNvPr>
              <p14:cNvContentPartPr/>
              <p14:nvPr/>
            </p14:nvContentPartPr>
            <p14:xfrm>
              <a:off x="2344790" y="1294356"/>
              <a:ext cx="257488" cy="112677"/>
            </p14:xfrm>
          </p:contentPart>
        </mc:Choice>
        <mc:Fallback xmlns="">
          <p:pic>
            <p:nvPicPr>
              <p:cNvPr id="14" name="حبر 13">
                <a:extLst>
                  <a:ext uri="{FF2B5EF4-FFF2-40B4-BE49-F238E27FC236}">
                    <a16:creationId xmlns:a16="http://schemas.microsoft.com/office/drawing/2014/main" id="{4532DB37-EBB9-9588-4DE4-6944AE7D7B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34346" y="1283950"/>
                <a:ext cx="277655" cy="132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حبر 15">
                <a:extLst>
                  <a:ext uri="{FF2B5EF4-FFF2-40B4-BE49-F238E27FC236}">
                    <a16:creationId xmlns:a16="http://schemas.microsoft.com/office/drawing/2014/main" id="{CB77A8A3-F0B2-F9E3-E16B-AA3543654732}"/>
                  </a:ext>
                </a:extLst>
              </p14:cNvPr>
              <p14:cNvContentPartPr/>
              <p14:nvPr/>
            </p14:nvContentPartPr>
            <p14:xfrm>
              <a:off x="3998234" y="1295819"/>
              <a:ext cx="257488" cy="112677"/>
            </p14:xfrm>
          </p:contentPart>
        </mc:Choice>
        <mc:Fallback xmlns="">
          <p:pic>
            <p:nvPicPr>
              <p:cNvPr id="16" name="حبر 15">
                <a:extLst>
                  <a:ext uri="{FF2B5EF4-FFF2-40B4-BE49-F238E27FC236}">
                    <a16:creationId xmlns:a16="http://schemas.microsoft.com/office/drawing/2014/main" id="{CB77A8A3-F0B2-F9E3-E16B-AA35436547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87790" y="1285413"/>
                <a:ext cx="277655" cy="132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حبر 17">
                <a:extLst>
                  <a:ext uri="{FF2B5EF4-FFF2-40B4-BE49-F238E27FC236}">
                    <a16:creationId xmlns:a16="http://schemas.microsoft.com/office/drawing/2014/main" id="{530537E3-68AA-0502-9CC9-DF5651918C3F}"/>
                  </a:ext>
                </a:extLst>
              </p14:cNvPr>
              <p14:cNvContentPartPr/>
              <p14:nvPr/>
            </p14:nvContentPartPr>
            <p14:xfrm>
              <a:off x="5590393" y="1298945"/>
              <a:ext cx="257488" cy="112677"/>
            </p14:xfrm>
          </p:contentPart>
        </mc:Choice>
        <mc:Fallback xmlns="">
          <p:pic>
            <p:nvPicPr>
              <p:cNvPr id="18" name="حبر 17">
                <a:extLst>
                  <a:ext uri="{FF2B5EF4-FFF2-40B4-BE49-F238E27FC236}">
                    <a16:creationId xmlns:a16="http://schemas.microsoft.com/office/drawing/2014/main" id="{530537E3-68AA-0502-9CC9-DF5651918C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79949" y="1288539"/>
                <a:ext cx="277655" cy="132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حبر 3">
                <a:extLst>
                  <a:ext uri="{FF2B5EF4-FFF2-40B4-BE49-F238E27FC236}">
                    <a16:creationId xmlns:a16="http://schemas.microsoft.com/office/drawing/2014/main" id="{437AD389-976A-653D-2DA2-735A0A68592C}"/>
                  </a:ext>
                </a:extLst>
              </p14:cNvPr>
              <p14:cNvContentPartPr/>
              <p14:nvPr/>
            </p14:nvContentPartPr>
            <p14:xfrm>
              <a:off x="881375" y="1298945"/>
              <a:ext cx="257488" cy="112677"/>
            </p14:xfrm>
          </p:contentPart>
        </mc:Choice>
        <mc:Fallback xmlns="">
          <p:pic>
            <p:nvPicPr>
              <p:cNvPr id="4" name="حبر 3">
                <a:extLst>
                  <a:ext uri="{FF2B5EF4-FFF2-40B4-BE49-F238E27FC236}">
                    <a16:creationId xmlns:a16="http://schemas.microsoft.com/office/drawing/2014/main" id="{437AD389-976A-653D-2DA2-735A0A6859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0931" y="1288539"/>
                <a:ext cx="277655" cy="132772"/>
              </a:xfrm>
              <a:prstGeom prst="rect">
                <a:avLst/>
              </a:prstGeom>
            </p:spPr>
          </p:pic>
        </mc:Fallback>
      </mc:AlternateContent>
      <p:sp>
        <p:nvSpPr>
          <p:cNvPr id="9" name="مربع نص 8">
            <a:extLst>
              <a:ext uri="{FF2B5EF4-FFF2-40B4-BE49-F238E27FC236}">
                <a16:creationId xmlns:a16="http://schemas.microsoft.com/office/drawing/2014/main" id="{B1AC707C-A9EF-D1FE-1635-785D3A623742}"/>
              </a:ext>
            </a:extLst>
          </p:cNvPr>
          <p:cNvSpPr txBox="1"/>
          <p:nvPr/>
        </p:nvSpPr>
        <p:spPr>
          <a:xfrm>
            <a:off x="3556400" y="1608024"/>
            <a:ext cx="182880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1050" dirty="0"/>
              <a:t>٨</a:t>
            </a:r>
          </a:p>
        </p:txBody>
      </p:sp>
      <p:cxnSp>
        <p:nvCxnSpPr>
          <p:cNvPr id="11" name="رابط كسهم مستقيم 10">
            <a:extLst>
              <a:ext uri="{FF2B5EF4-FFF2-40B4-BE49-F238E27FC236}">
                <a16:creationId xmlns:a16="http://schemas.microsoft.com/office/drawing/2014/main" id="{442602E3-F209-9960-1D37-629D817F0FD3}"/>
              </a:ext>
            </a:extLst>
          </p:cNvPr>
          <p:cNvCxnSpPr>
            <a:cxnSpLocks/>
          </p:cNvCxnSpPr>
          <p:nvPr/>
        </p:nvCxnSpPr>
        <p:spPr>
          <a:xfrm>
            <a:off x="5109743" y="1659597"/>
            <a:ext cx="285751" cy="0"/>
          </a:xfrm>
          <a:prstGeom prst="straightConnector1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1" name="حبر 30">
                <a:extLst>
                  <a:ext uri="{FF2B5EF4-FFF2-40B4-BE49-F238E27FC236}">
                    <a16:creationId xmlns:a16="http://schemas.microsoft.com/office/drawing/2014/main" id="{C82650F8-73EC-28B2-A53D-4A528675611A}"/>
                  </a:ext>
                </a:extLst>
              </p14:cNvPr>
              <p14:cNvContentPartPr/>
              <p14:nvPr/>
            </p14:nvContentPartPr>
            <p14:xfrm>
              <a:off x="5109743" y="1574309"/>
              <a:ext cx="389798" cy="170576"/>
            </p14:xfrm>
          </p:contentPart>
        </mc:Choice>
        <mc:Fallback>
          <p:pic>
            <p:nvPicPr>
              <p:cNvPr id="31" name="حبر 30">
                <a:extLst>
                  <a:ext uri="{FF2B5EF4-FFF2-40B4-BE49-F238E27FC236}">
                    <a16:creationId xmlns:a16="http://schemas.microsoft.com/office/drawing/2014/main" id="{C82650F8-73EC-28B2-A53D-4A52867561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99296" y="1563895"/>
                <a:ext cx="409972" cy="190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3" name="حبر 32">
                <a:extLst>
                  <a:ext uri="{FF2B5EF4-FFF2-40B4-BE49-F238E27FC236}">
                    <a16:creationId xmlns:a16="http://schemas.microsoft.com/office/drawing/2014/main" id="{7BE2DB6A-89FC-4890-ECE6-E0A299C4E6AF}"/>
                  </a:ext>
                </a:extLst>
              </p14:cNvPr>
              <p14:cNvContentPartPr/>
              <p14:nvPr/>
            </p14:nvContentPartPr>
            <p14:xfrm>
              <a:off x="5458083" y="1924240"/>
              <a:ext cx="208749" cy="91349"/>
            </p14:xfrm>
          </p:contentPart>
        </mc:Choice>
        <mc:Fallback>
          <p:pic>
            <p:nvPicPr>
              <p:cNvPr id="33" name="حبر 32">
                <a:extLst>
                  <a:ext uri="{FF2B5EF4-FFF2-40B4-BE49-F238E27FC236}">
                    <a16:creationId xmlns:a16="http://schemas.microsoft.com/office/drawing/2014/main" id="{7BE2DB6A-89FC-4890-ECE6-E0A299C4E6A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47646" y="1913851"/>
                <a:ext cx="228904" cy="1114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5" name="حبر 34">
                <a:extLst>
                  <a:ext uri="{FF2B5EF4-FFF2-40B4-BE49-F238E27FC236}">
                    <a16:creationId xmlns:a16="http://schemas.microsoft.com/office/drawing/2014/main" id="{6002ED8B-9E66-DA84-D490-D718F98D92F6}"/>
                  </a:ext>
                </a:extLst>
              </p14:cNvPr>
              <p14:cNvContentPartPr/>
              <p14:nvPr/>
            </p14:nvContentPartPr>
            <p14:xfrm>
              <a:off x="5458083" y="2097520"/>
              <a:ext cx="208749" cy="91349"/>
            </p14:xfrm>
          </p:contentPart>
        </mc:Choice>
        <mc:Fallback>
          <p:pic>
            <p:nvPicPr>
              <p:cNvPr id="35" name="حبر 34">
                <a:extLst>
                  <a:ext uri="{FF2B5EF4-FFF2-40B4-BE49-F238E27FC236}">
                    <a16:creationId xmlns:a16="http://schemas.microsoft.com/office/drawing/2014/main" id="{6002ED8B-9E66-DA84-D490-D718F98D92F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47646" y="2087131"/>
                <a:ext cx="228904" cy="11141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مربع نص 35">
            <a:extLst>
              <a:ext uri="{FF2B5EF4-FFF2-40B4-BE49-F238E27FC236}">
                <a16:creationId xmlns:a16="http://schemas.microsoft.com/office/drawing/2014/main" id="{4C0C9272-B36E-225C-2CA0-AD3BE87EDB12}"/>
              </a:ext>
            </a:extLst>
          </p:cNvPr>
          <p:cNvSpPr txBox="1"/>
          <p:nvPr/>
        </p:nvSpPr>
        <p:spPr>
          <a:xfrm>
            <a:off x="4775200" y="1883677"/>
            <a:ext cx="89163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1000" dirty="0"/>
              <a:t>٦٠</a:t>
            </a:r>
          </a:p>
          <a:p>
            <a:pPr algn="r"/>
            <a:r>
              <a:rPr lang="ar-SA" sz="1000" dirty="0"/>
              <a:t>  ٨ </a:t>
            </a:r>
          </a:p>
        </p:txBody>
      </p:sp>
      <p:cxnSp>
        <p:nvCxnSpPr>
          <p:cNvPr id="37" name="رابط كسهم مستقيم 36">
            <a:extLst>
              <a:ext uri="{FF2B5EF4-FFF2-40B4-BE49-F238E27FC236}">
                <a16:creationId xmlns:a16="http://schemas.microsoft.com/office/drawing/2014/main" id="{890523A7-1FE0-8362-B1CB-C17365ECFA34}"/>
              </a:ext>
            </a:extLst>
          </p:cNvPr>
          <p:cNvCxnSpPr>
            <a:cxnSpLocks/>
          </p:cNvCxnSpPr>
          <p:nvPr/>
        </p:nvCxnSpPr>
        <p:spPr>
          <a:xfrm>
            <a:off x="5385200" y="2054175"/>
            <a:ext cx="333937" cy="0"/>
          </a:xfrm>
          <a:prstGeom prst="straightConnector1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5" name="حبر 44">
                <a:extLst>
                  <a:ext uri="{FF2B5EF4-FFF2-40B4-BE49-F238E27FC236}">
                    <a16:creationId xmlns:a16="http://schemas.microsoft.com/office/drawing/2014/main" id="{A5503556-1260-DED3-907A-742F4E943BC9}"/>
                  </a:ext>
                </a:extLst>
              </p14:cNvPr>
              <p14:cNvContentPartPr/>
              <p14:nvPr/>
            </p14:nvContentPartPr>
            <p14:xfrm>
              <a:off x="4151347" y="1897002"/>
              <a:ext cx="208749" cy="91349"/>
            </p14:xfrm>
          </p:contentPart>
        </mc:Choice>
        <mc:Fallback>
          <p:pic>
            <p:nvPicPr>
              <p:cNvPr id="45" name="حبر 44">
                <a:extLst>
                  <a:ext uri="{FF2B5EF4-FFF2-40B4-BE49-F238E27FC236}">
                    <a16:creationId xmlns:a16="http://schemas.microsoft.com/office/drawing/2014/main" id="{A5503556-1260-DED3-907A-742F4E943BC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40910" y="1886613"/>
                <a:ext cx="228904" cy="1114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7" name="حبر 46">
                <a:extLst>
                  <a:ext uri="{FF2B5EF4-FFF2-40B4-BE49-F238E27FC236}">
                    <a16:creationId xmlns:a16="http://schemas.microsoft.com/office/drawing/2014/main" id="{B090771B-0570-5931-E1C5-2547B2C3F219}"/>
                  </a:ext>
                </a:extLst>
              </p14:cNvPr>
              <p14:cNvContentPartPr/>
              <p14:nvPr/>
            </p14:nvContentPartPr>
            <p14:xfrm>
              <a:off x="4151347" y="2078922"/>
              <a:ext cx="208749" cy="91349"/>
            </p14:xfrm>
          </p:contentPart>
        </mc:Choice>
        <mc:Fallback>
          <p:pic>
            <p:nvPicPr>
              <p:cNvPr id="47" name="حبر 46">
                <a:extLst>
                  <a:ext uri="{FF2B5EF4-FFF2-40B4-BE49-F238E27FC236}">
                    <a16:creationId xmlns:a16="http://schemas.microsoft.com/office/drawing/2014/main" id="{B090771B-0570-5931-E1C5-2547B2C3F21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40910" y="2068533"/>
                <a:ext cx="228904" cy="111410"/>
              </a:xfrm>
              <a:prstGeom prst="rect">
                <a:avLst/>
              </a:prstGeom>
            </p:spPr>
          </p:pic>
        </mc:Fallback>
      </mc:AlternateContent>
      <p:cxnSp>
        <p:nvCxnSpPr>
          <p:cNvPr id="49" name="رابط كسهم مستقيم 48">
            <a:extLst>
              <a:ext uri="{FF2B5EF4-FFF2-40B4-BE49-F238E27FC236}">
                <a16:creationId xmlns:a16="http://schemas.microsoft.com/office/drawing/2014/main" id="{95FB1E1E-0F41-3112-C1CE-C7CE333F0322}"/>
              </a:ext>
            </a:extLst>
          </p:cNvPr>
          <p:cNvCxnSpPr>
            <a:cxnSpLocks/>
          </p:cNvCxnSpPr>
          <p:nvPr/>
        </p:nvCxnSpPr>
        <p:spPr>
          <a:xfrm flipH="1">
            <a:off x="4151347" y="2015589"/>
            <a:ext cx="295962" cy="0"/>
          </a:xfrm>
          <a:prstGeom prst="straightConnector1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مربع نص 54">
            <a:extLst>
              <a:ext uri="{FF2B5EF4-FFF2-40B4-BE49-F238E27FC236}">
                <a16:creationId xmlns:a16="http://schemas.microsoft.com/office/drawing/2014/main" id="{E7109DD0-70F6-CC6B-DE7D-29D9D21AE249}"/>
              </a:ext>
            </a:extLst>
          </p:cNvPr>
          <p:cNvSpPr txBox="1"/>
          <p:nvPr/>
        </p:nvSpPr>
        <p:spPr>
          <a:xfrm>
            <a:off x="3485162" y="1865819"/>
            <a:ext cx="89163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1000" dirty="0"/>
              <a:t>١٥</a:t>
            </a:r>
          </a:p>
          <a:p>
            <a:pPr algn="r"/>
            <a:r>
              <a:rPr lang="ar-SA" sz="1000" dirty="0"/>
              <a:t>٢ </a:t>
            </a:r>
          </a:p>
        </p:txBody>
      </p:sp>
      <p:sp>
        <p:nvSpPr>
          <p:cNvPr id="62" name="مربع نص 61">
            <a:extLst>
              <a:ext uri="{FF2B5EF4-FFF2-40B4-BE49-F238E27FC236}">
                <a16:creationId xmlns:a16="http://schemas.microsoft.com/office/drawing/2014/main" id="{CCF603A0-ED42-A55C-D606-3EA6B7466867}"/>
              </a:ext>
            </a:extLst>
          </p:cNvPr>
          <p:cNvSpPr txBox="1"/>
          <p:nvPr/>
        </p:nvSpPr>
        <p:spPr>
          <a:xfrm>
            <a:off x="0" y="4037885"/>
            <a:ext cx="1828800" cy="18288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endParaRPr lang="ar-S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4" name="حبر 63">
                <a:extLst>
                  <a:ext uri="{FF2B5EF4-FFF2-40B4-BE49-F238E27FC236}">
                    <a16:creationId xmlns:a16="http://schemas.microsoft.com/office/drawing/2014/main" id="{1A36FBEE-18CD-B0A5-A271-7B482833D646}"/>
                  </a:ext>
                </a:extLst>
              </p14:cNvPr>
              <p14:cNvContentPartPr/>
              <p14:nvPr/>
            </p14:nvContentPartPr>
            <p14:xfrm>
              <a:off x="2424451" y="1845771"/>
              <a:ext cx="598548" cy="261925"/>
            </p14:xfrm>
          </p:contentPart>
        </mc:Choice>
        <mc:Fallback>
          <p:pic>
            <p:nvPicPr>
              <p:cNvPr id="64" name="حبر 63">
                <a:extLst>
                  <a:ext uri="{FF2B5EF4-FFF2-40B4-BE49-F238E27FC236}">
                    <a16:creationId xmlns:a16="http://schemas.microsoft.com/office/drawing/2014/main" id="{1A36FBEE-18CD-B0A5-A271-7B482833D64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14001" y="1835351"/>
                <a:ext cx="618728" cy="282045"/>
              </a:xfrm>
              <a:prstGeom prst="rect">
                <a:avLst/>
              </a:prstGeom>
            </p:spPr>
          </p:pic>
        </mc:Fallback>
      </mc:AlternateContent>
      <p:cxnSp>
        <p:nvCxnSpPr>
          <p:cNvPr id="68" name="رابط كسهم مستقيم 67">
            <a:extLst>
              <a:ext uri="{FF2B5EF4-FFF2-40B4-BE49-F238E27FC236}">
                <a16:creationId xmlns:a16="http://schemas.microsoft.com/office/drawing/2014/main" id="{8C72850F-8726-35A1-446A-8DFFB5E00BBC}"/>
              </a:ext>
            </a:extLst>
          </p:cNvPr>
          <p:cNvCxnSpPr>
            <a:cxnSpLocks/>
          </p:cNvCxnSpPr>
          <p:nvPr/>
        </p:nvCxnSpPr>
        <p:spPr>
          <a:xfrm flipV="1">
            <a:off x="2473534" y="1987389"/>
            <a:ext cx="348688" cy="962"/>
          </a:xfrm>
          <a:prstGeom prst="straightConnector1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مربع نص 76">
            <a:extLst>
              <a:ext uri="{FF2B5EF4-FFF2-40B4-BE49-F238E27FC236}">
                <a16:creationId xmlns:a16="http://schemas.microsoft.com/office/drawing/2014/main" id="{53E78260-FF44-B1AD-DA26-FB7177B2B053}"/>
              </a:ext>
            </a:extLst>
          </p:cNvPr>
          <p:cNvSpPr txBox="1"/>
          <p:nvPr/>
        </p:nvSpPr>
        <p:spPr>
          <a:xfrm>
            <a:off x="0" y="4037885"/>
            <a:ext cx="1828800" cy="18288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endParaRPr lang="ar-S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9" name="حبر 78">
                <a:extLst>
                  <a:ext uri="{FF2B5EF4-FFF2-40B4-BE49-F238E27FC236}">
                    <a16:creationId xmlns:a16="http://schemas.microsoft.com/office/drawing/2014/main" id="{AE3C5B6B-2447-1C79-785B-BB438114F8CC}"/>
                  </a:ext>
                </a:extLst>
              </p14:cNvPr>
              <p14:cNvContentPartPr/>
              <p14:nvPr/>
            </p14:nvContentPartPr>
            <p14:xfrm>
              <a:off x="943739" y="1881269"/>
              <a:ext cx="247429" cy="108275"/>
            </p14:xfrm>
          </p:contentPart>
        </mc:Choice>
        <mc:Fallback>
          <p:pic>
            <p:nvPicPr>
              <p:cNvPr id="79" name="حبر 78">
                <a:extLst>
                  <a:ext uri="{FF2B5EF4-FFF2-40B4-BE49-F238E27FC236}">
                    <a16:creationId xmlns:a16="http://schemas.microsoft.com/office/drawing/2014/main" id="{AE3C5B6B-2447-1C79-785B-BB438114F8C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3294" y="1870872"/>
                <a:ext cx="267598" cy="128352"/>
              </a:xfrm>
              <a:prstGeom prst="rect">
                <a:avLst/>
              </a:prstGeom>
            </p:spPr>
          </p:pic>
        </mc:Fallback>
      </mc:AlternateContent>
      <p:sp>
        <p:nvSpPr>
          <p:cNvPr id="81" name="مربع نص 80">
            <a:extLst>
              <a:ext uri="{FF2B5EF4-FFF2-40B4-BE49-F238E27FC236}">
                <a16:creationId xmlns:a16="http://schemas.microsoft.com/office/drawing/2014/main" id="{69A163F5-88CB-A402-6D2D-265EFDCD2D1E}"/>
              </a:ext>
            </a:extLst>
          </p:cNvPr>
          <p:cNvSpPr txBox="1"/>
          <p:nvPr/>
        </p:nvSpPr>
        <p:spPr>
          <a:xfrm>
            <a:off x="351381" y="1842209"/>
            <a:ext cx="89163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1000" dirty="0"/>
              <a:t>٣٠</a:t>
            </a:r>
          </a:p>
          <a:p>
            <a:pPr algn="r"/>
            <a:r>
              <a:rPr lang="ar-SA" sz="1000" dirty="0"/>
              <a:t>٢ </a:t>
            </a:r>
          </a:p>
        </p:txBody>
      </p:sp>
      <p:cxnSp>
        <p:nvCxnSpPr>
          <p:cNvPr id="83" name="رابط كسهم مستقيم 82">
            <a:extLst>
              <a:ext uri="{FF2B5EF4-FFF2-40B4-BE49-F238E27FC236}">
                <a16:creationId xmlns:a16="http://schemas.microsoft.com/office/drawing/2014/main" id="{300D6DEA-214A-E73B-8963-ED28FC712DAD}"/>
              </a:ext>
            </a:extLst>
          </p:cNvPr>
          <p:cNvCxnSpPr>
            <a:cxnSpLocks/>
            <a:endCxn id="81" idx="3"/>
          </p:cNvCxnSpPr>
          <p:nvPr/>
        </p:nvCxnSpPr>
        <p:spPr>
          <a:xfrm flipV="1">
            <a:off x="943739" y="2042264"/>
            <a:ext cx="299274" cy="11911"/>
          </a:xfrm>
          <a:prstGeom prst="straightConnector1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" name="صورة 104">
            <a:extLst>
              <a:ext uri="{FF2B5EF4-FFF2-40B4-BE49-F238E27FC236}">
                <a16:creationId xmlns:a16="http://schemas.microsoft.com/office/drawing/2014/main" id="{F089BB9B-7098-D28F-6588-7EBB594E2E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41" t="33472" r="61484" b="63896"/>
          <a:stretch>
            <a:fillRect/>
          </a:stretch>
        </p:blipFill>
        <p:spPr>
          <a:xfrm>
            <a:off x="2409105" y="2512348"/>
            <a:ext cx="538420" cy="264683"/>
          </a:xfrm>
          <a:prstGeom prst="rect">
            <a:avLst/>
          </a:prstGeom>
        </p:spPr>
      </p:pic>
      <p:pic>
        <p:nvPicPr>
          <p:cNvPr id="108" name="صورة 107">
            <a:extLst>
              <a:ext uri="{FF2B5EF4-FFF2-40B4-BE49-F238E27FC236}">
                <a16:creationId xmlns:a16="http://schemas.microsoft.com/office/drawing/2014/main" id="{04C93616-DDB9-8E0A-93E3-4DE4EF330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58" t="32947" r="80467" b="64421"/>
          <a:stretch>
            <a:fillRect/>
          </a:stretch>
        </p:blipFill>
        <p:spPr>
          <a:xfrm>
            <a:off x="869653" y="2507837"/>
            <a:ext cx="538420" cy="264683"/>
          </a:xfrm>
          <a:prstGeom prst="rect">
            <a:avLst/>
          </a:prstGeom>
        </p:spPr>
      </p:pic>
      <p:pic>
        <p:nvPicPr>
          <p:cNvPr id="111" name="صورة 110">
            <a:extLst>
              <a:ext uri="{FF2B5EF4-FFF2-40B4-BE49-F238E27FC236}">
                <a16:creationId xmlns:a16="http://schemas.microsoft.com/office/drawing/2014/main" id="{3E12C700-015D-08F5-C85A-F384AFE3B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681" t="41503" r="12166" b="55112"/>
          <a:stretch>
            <a:fillRect/>
          </a:stretch>
        </p:blipFill>
        <p:spPr>
          <a:xfrm>
            <a:off x="4928951" y="2689794"/>
            <a:ext cx="933085" cy="340510"/>
          </a:xfrm>
          <a:prstGeom prst="rect">
            <a:avLst/>
          </a:prstGeom>
        </p:spPr>
      </p:pic>
      <p:graphicFrame>
        <p:nvGraphicFramePr>
          <p:cNvPr id="113" name="جدول 112">
            <a:extLst>
              <a:ext uri="{FF2B5EF4-FFF2-40B4-BE49-F238E27FC236}">
                <a16:creationId xmlns:a16="http://schemas.microsoft.com/office/drawing/2014/main" id="{CB50A5C5-EE81-A264-2D3F-A15F3F1DA9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9739753"/>
              </p:ext>
            </p:extLst>
          </p:nvPr>
        </p:nvGraphicFramePr>
        <p:xfrm>
          <a:off x="468395" y="2792736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27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 </a:t>
                      </a:r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-١٢</a:t>
                      </a:r>
                      <a:r>
                        <a:rPr lang="ar-SA" sz="1200" b="1" baseline="0" dirty="0"/>
                        <a:t> </a:t>
                      </a:r>
                      <a:r>
                        <a:rPr lang="ar-SA" sz="1200" b="1" dirty="0"/>
                        <a:t> 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b="1" dirty="0"/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1" dirty="0"/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99" name="جدول 98">
            <a:extLst>
              <a:ext uri="{FF2B5EF4-FFF2-40B4-BE49-F238E27FC236}">
                <a16:creationId xmlns:a16="http://schemas.microsoft.com/office/drawing/2014/main" id="{AE1CB0C2-B2BF-FDC1-E012-140AD0456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3008854"/>
              </p:ext>
            </p:extLst>
          </p:nvPr>
        </p:nvGraphicFramePr>
        <p:xfrm>
          <a:off x="468395" y="2238617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26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بسط العبارة </a:t>
                      </a:r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-١٢</a:t>
                      </a:r>
                      <a:r>
                        <a:rPr lang="ar-SA" sz="1200" b="1" baseline="0" dirty="0"/>
                        <a:t> </a:t>
                      </a:r>
                      <a:r>
                        <a:rPr lang="ar-SA" sz="1200" b="1" dirty="0"/>
                        <a:t> 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b="1" dirty="0"/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1" dirty="0"/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pic>
        <p:nvPicPr>
          <p:cNvPr id="117" name="صورة 116">
            <a:extLst>
              <a:ext uri="{FF2B5EF4-FFF2-40B4-BE49-F238E27FC236}">
                <a16:creationId xmlns:a16="http://schemas.microsoft.com/office/drawing/2014/main" id="{60C5C41D-028F-BC87-A7CA-BDF8148D6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106" t="48682" r="25771" b="48509"/>
          <a:stretch>
            <a:fillRect/>
          </a:stretch>
        </p:blipFill>
        <p:spPr>
          <a:xfrm>
            <a:off x="4513579" y="3367784"/>
            <a:ext cx="1011628" cy="324847"/>
          </a:xfrm>
          <a:prstGeom prst="rect">
            <a:avLst/>
          </a:prstGeom>
        </p:spPr>
      </p:pic>
      <p:graphicFrame>
        <p:nvGraphicFramePr>
          <p:cNvPr id="119" name="جدول 118">
            <a:extLst>
              <a:ext uri="{FF2B5EF4-FFF2-40B4-BE49-F238E27FC236}">
                <a16:creationId xmlns:a16="http://schemas.microsoft.com/office/drawing/2014/main" id="{DCE84152-EA87-73A9-FF58-C22535C5EB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981652"/>
              </p:ext>
            </p:extLst>
          </p:nvPr>
        </p:nvGraphicFramePr>
        <p:xfrm>
          <a:off x="468396" y="3347350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28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 ماحل المعادلة</a:t>
                      </a:r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٧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-٨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٩</a:t>
                      </a:r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21" name="جدول 120">
            <a:extLst>
              <a:ext uri="{FF2B5EF4-FFF2-40B4-BE49-F238E27FC236}">
                <a16:creationId xmlns:a16="http://schemas.microsoft.com/office/drawing/2014/main" id="{EA182669-D32D-C0EA-55C4-E6D8182662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1586278"/>
              </p:ext>
            </p:extLst>
          </p:nvPr>
        </p:nvGraphicFramePr>
        <p:xfrm>
          <a:off x="468395" y="3897287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29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 ‏أي مجموعة من القياسات الآتية تشكل ثلاثية فيثاغورس</a:t>
                      </a:r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 ، ٥ ، ٦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٣ ،٤ ، ٥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٥ ،١١ ، ١٢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٤ ، ٨ ،١١</a:t>
                      </a:r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23" name="جدول 122">
            <a:extLst>
              <a:ext uri="{FF2B5EF4-FFF2-40B4-BE49-F238E27FC236}">
                <a16:creationId xmlns:a16="http://schemas.microsoft.com/office/drawing/2014/main" id="{FCA436B9-1C64-4BE6-ACB1-BFACD28841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3182245"/>
              </p:ext>
            </p:extLst>
          </p:nvPr>
        </p:nvGraphicFramePr>
        <p:xfrm>
          <a:off x="468395" y="4461985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30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‏المسافة بين نقطتين ( ٥ ، ٧ ) (٥ ، ٨ )</a:t>
                      </a:r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٠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١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٤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٥</a:t>
                      </a:r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25" name="جدول 124">
            <a:extLst>
              <a:ext uri="{FF2B5EF4-FFF2-40B4-BE49-F238E27FC236}">
                <a16:creationId xmlns:a16="http://schemas.microsoft.com/office/drawing/2014/main" id="{43013215-4006-D17E-AD5D-0AACC421D8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22381"/>
              </p:ext>
            </p:extLst>
          </p:nvPr>
        </p:nvGraphicFramePr>
        <p:xfrm>
          <a:off x="468395" y="5009447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31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 ‏يفحص مصنع لأجهزة الحاسوب المحموله كل عاشر جهاز للكشف عن عيوب قد تكون فيها صنف هذه العينة</a:t>
                      </a:r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متحيزة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بسيطة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طبقية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‏منتظمة</a:t>
                      </a:r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27" name="جدول 126">
            <a:extLst>
              <a:ext uri="{FF2B5EF4-FFF2-40B4-BE49-F238E27FC236}">
                <a16:creationId xmlns:a16="http://schemas.microsoft.com/office/drawing/2014/main" id="{4D699897-57FE-F57C-0A3A-C074114007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25688"/>
              </p:ext>
            </p:extLst>
          </p:nvPr>
        </p:nvGraphicFramePr>
        <p:xfrm>
          <a:off x="468395" y="5551395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32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‏ألقي  مكعبا أرقام معاً فما عدد النواتج الممكنة </a:t>
                      </a:r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٢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٦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٣٠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/>
                        <a:t>٣٦</a:t>
                      </a:r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pic>
        <p:nvPicPr>
          <p:cNvPr id="136" name="صورة 135">
            <a:extLst>
              <a:ext uri="{FF2B5EF4-FFF2-40B4-BE49-F238E27FC236}">
                <a16:creationId xmlns:a16="http://schemas.microsoft.com/office/drawing/2014/main" id="{47F76BFE-8318-CF73-B4A2-6369728BED23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40166" t="28457" r="17461" b="59679"/>
          <a:stretch>
            <a:fillRect/>
          </a:stretch>
        </p:blipFill>
        <p:spPr>
          <a:xfrm>
            <a:off x="4237631" y="6871968"/>
            <a:ext cx="1752754" cy="960497"/>
          </a:xfrm>
          <a:prstGeom prst="rect">
            <a:avLst/>
          </a:prstGeom>
        </p:spPr>
      </p:pic>
      <p:pic>
        <p:nvPicPr>
          <p:cNvPr id="145" name="صورة 144">
            <a:extLst>
              <a:ext uri="{FF2B5EF4-FFF2-40B4-BE49-F238E27FC236}">
                <a16:creationId xmlns:a16="http://schemas.microsoft.com/office/drawing/2014/main" id="{0AC0B5D5-3E62-C3C3-9B3A-A66E1F7ADA2A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7785" t="29409" r="65876" b="57543"/>
          <a:stretch>
            <a:fillRect/>
          </a:stretch>
        </p:blipFill>
        <p:spPr>
          <a:xfrm>
            <a:off x="1672424" y="6915061"/>
            <a:ext cx="872700" cy="943357"/>
          </a:xfrm>
          <a:prstGeom prst="rect">
            <a:avLst/>
          </a:prstGeom>
        </p:spPr>
      </p:pic>
      <p:pic>
        <p:nvPicPr>
          <p:cNvPr id="148" name="صورة 147">
            <a:extLst>
              <a:ext uri="{FF2B5EF4-FFF2-40B4-BE49-F238E27FC236}">
                <a16:creationId xmlns:a16="http://schemas.microsoft.com/office/drawing/2014/main" id="{E8304610-0EF4-4FBD-68C0-725D28085EB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49568" t="41249" r="20082" b="47078"/>
          <a:stretch>
            <a:fillRect/>
          </a:stretch>
        </p:blipFill>
        <p:spPr>
          <a:xfrm>
            <a:off x="4651567" y="7887228"/>
            <a:ext cx="1098056" cy="921574"/>
          </a:xfrm>
          <a:prstGeom prst="rect">
            <a:avLst/>
          </a:prstGeom>
        </p:spPr>
      </p:pic>
      <p:pic>
        <p:nvPicPr>
          <p:cNvPr id="151" name="صورة 150">
            <a:extLst>
              <a:ext uri="{FF2B5EF4-FFF2-40B4-BE49-F238E27FC236}">
                <a16:creationId xmlns:a16="http://schemas.microsoft.com/office/drawing/2014/main" id="{3BF9C220-12E3-AC3F-1EDD-7B3CCD462B34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2285" t="42624" r="66232" b="45703"/>
          <a:stretch>
            <a:fillRect/>
          </a:stretch>
        </p:blipFill>
        <p:spPr>
          <a:xfrm>
            <a:off x="1566861" y="7821685"/>
            <a:ext cx="1279145" cy="1034920"/>
          </a:xfrm>
          <a:prstGeom prst="rect">
            <a:avLst/>
          </a:prstGeom>
        </p:spPr>
      </p:pic>
      <p:graphicFrame>
        <p:nvGraphicFramePr>
          <p:cNvPr id="131" name="جدول 130">
            <a:extLst>
              <a:ext uri="{FF2B5EF4-FFF2-40B4-BE49-F238E27FC236}">
                <a16:creationId xmlns:a16="http://schemas.microsoft.com/office/drawing/2014/main" id="{C64114FE-AA9B-2625-26D1-6B85D6CF21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6734240"/>
              </p:ext>
            </p:extLst>
          </p:nvPr>
        </p:nvGraphicFramePr>
        <p:xfrm>
          <a:off x="468394" y="6654771"/>
          <a:ext cx="6259148" cy="273731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5903548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34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‏حدد زوج المثلثات المتشابهة</a:t>
                      </a:r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</a:tbl>
          </a:graphicData>
        </a:graphic>
      </p:graphicFrame>
      <p:pic>
        <p:nvPicPr>
          <p:cNvPr id="154" name="صورة 153">
            <a:extLst>
              <a:ext uri="{FF2B5EF4-FFF2-40B4-BE49-F238E27FC236}">
                <a16:creationId xmlns:a16="http://schemas.microsoft.com/office/drawing/2014/main" id="{19432FC3-6BFA-1A5F-8898-F2580DA88DEB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69164" t="76638" r="11019" b="16318"/>
          <a:stretch>
            <a:fillRect/>
          </a:stretch>
        </p:blipFill>
        <p:spPr>
          <a:xfrm>
            <a:off x="4251514" y="6161838"/>
            <a:ext cx="959220" cy="286642"/>
          </a:xfrm>
          <a:prstGeom prst="rect">
            <a:avLst/>
          </a:prstGeom>
        </p:spPr>
      </p:pic>
      <p:pic>
        <p:nvPicPr>
          <p:cNvPr id="157" name="صورة 156">
            <a:extLst>
              <a:ext uri="{FF2B5EF4-FFF2-40B4-BE49-F238E27FC236}">
                <a16:creationId xmlns:a16="http://schemas.microsoft.com/office/drawing/2014/main" id="{1DFA79B9-EA64-40F8-CCC9-76B395F45512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75320" t="81836" r="16702" b="11042"/>
          <a:stretch>
            <a:fillRect/>
          </a:stretch>
        </p:blipFill>
        <p:spPr>
          <a:xfrm>
            <a:off x="5385200" y="6310329"/>
            <a:ext cx="391841" cy="326957"/>
          </a:xfrm>
          <a:prstGeom prst="rect">
            <a:avLst/>
          </a:prstGeom>
        </p:spPr>
      </p:pic>
      <p:pic>
        <p:nvPicPr>
          <p:cNvPr id="163" name="صورة 162">
            <a:extLst>
              <a:ext uri="{FF2B5EF4-FFF2-40B4-BE49-F238E27FC236}">
                <a16:creationId xmlns:a16="http://schemas.microsoft.com/office/drawing/2014/main" id="{0058D935-8266-E517-3969-F33F2535D87B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49168" t="81334" r="40507" b="11866"/>
          <a:stretch>
            <a:fillRect/>
          </a:stretch>
        </p:blipFill>
        <p:spPr>
          <a:xfrm>
            <a:off x="3844661" y="6308556"/>
            <a:ext cx="507083" cy="312203"/>
          </a:xfrm>
          <a:prstGeom prst="rect">
            <a:avLst/>
          </a:prstGeom>
        </p:spPr>
      </p:pic>
      <p:pic>
        <p:nvPicPr>
          <p:cNvPr id="166" name="صورة 165">
            <a:extLst>
              <a:ext uri="{FF2B5EF4-FFF2-40B4-BE49-F238E27FC236}">
                <a16:creationId xmlns:a16="http://schemas.microsoft.com/office/drawing/2014/main" id="{966A315A-87EA-FAB0-997A-DE99EFF92BC1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8368" t="81045" r="63654" b="11833"/>
          <a:stretch>
            <a:fillRect/>
          </a:stretch>
        </p:blipFill>
        <p:spPr>
          <a:xfrm>
            <a:off x="2419364" y="6282568"/>
            <a:ext cx="391841" cy="326957"/>
          </a:xfrm>
          <a:prstGeom prst="rect">
            <a:avLst/>
          </a:prstGeom>
        </p:spPr>
      </p:pic>
      <p:pic>
        <p:nvPicPr>
          <p:cNvPr id="169" name="صورة 168">
            <a:extLst>
              <a:ext uri="{FF2B5EF4-FFF2-40B4-BE49-F238E27FC236}">
                <a16:creationId xmlns:a16="http://schemas.microsoft.com/office/drawing/2014/main" id="{2729E720-43DF-21F6-17C2-49BFC4DA67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5829" t="81640" r="86193" b="11238"/>
          <a:stretch>
            <a:fillRect/>
          </a:stretch>
        </p:blipFill>
        <p:spPr>
          <a:xfrm>
            <a:off x="995247" y="6285001"/>
            <a:ext cx="391841" cy="326957"/>
          </a:xfrm>
          <a:prstGeom prst="rect">
            <a:avLst/>
          </a:prstGeom>
        </p:spPr>
      </p:pic>
      <p:graphicFrame>
        <p:nvGraphicFramePr>
          <p:cNvPr id="30" name="جدول 29">
            <a:extLst>
              <a:ext uri="{FF2B5EF4-FFF2-40B4-BE49-F238E27FC236}">
                <a16:creationId xmlns:a16="http://schemas.microsoft.com/office/drawing/2014/main" id="{677A09AE-98DE-4B9A-775B-46F0759A34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6569368"/>
              </p:ext>
            </p:extLst>
          </p:nvPr>
        </p:nvGraphicFramePr>
        <p:xfrm>
          <a:off x="468394" y="6108257"/>
          <a:ext cx="6259148" cy="5474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1209187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1716485602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3527066532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556863859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1727596943"/>
                    </a:ext>
                  </a:extLst>
                </a:gridCol>
                <a:gridCol w="248768">
                  <a:extLst>
                    <a:ext uri="{9D8B030D-6E8A-4147-A177-3AD203B41FA5}">
                      <a16:colId xmlns:a16="http://schemas.microsoft.com/office/drawing/2014/main" val="3030495311"/>
                    </a:ext>
                  </a:extLst>
                </a:gridCol>
                <a:gridCol w="1316019">
                  <a:extLst>
                    <a:ext uri="{9D8B030D-6E8A-4147-A177-3AD203B41FA5}">
                      <a16:colId xmlns:a16="http://schemas.microsoft.com/office/drawing/2014/main" val="4015184656"/>
                    </a:ext>
                  </a:extLst>
                </a:gridCol>
              </a:tblGrid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en-GB" sz="1200" b="0" dirty="0"/>
                        <a:t>33</a:t>
                      </a:r>
                      <a:endParaRPr lang="ar-SA" sz="1200" b="0" dirty="0"/>
                    </a:p>
                  </a:txBody>
                  <a:tcPr marL="66792" marR="66792" marT="33396" marB="33396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بسط العبارة</a:t>
                      </a:r>
                    </a:p>
                  </a:txBody>
                  <a:tcPr marL="66792" marR="66792" marT="33396" marB="33396"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  <a:tr h="273731"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أ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b="1" dirty="0"/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b="1" dirty="0"/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ج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b="1" dirty="0"/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/>
                        <a:t>د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marL="0" marR="0" lvl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1" dirty="0"/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1892481537"/>
                  </a:ext>
                </a:extLst>
              </a:tr>
            </a:tbl>
          </a:graphicData>
        </a:graphic>
      </p:graphicFrame>
      <p:graphicFrame>
        <p:nvGraphicFramePr>
          <p:cNvPr id="140" name="جدول 139">
            <a:extLst>
              <a:ext uri="{FF2B5EF4-FFF2-40B4-BE49-F238E27FC236}">
                <a16:creationId xmlns:a16="http://schemas.microsoft.com/office/drawing/2014/main" id="{4703A153-39B1-6CE8-7809-EFE1BA6949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7446359"/>
              </p:ext>
            </p:extLst>
          </p:nvPr>
        </p:nvGraphicFramePr>
        <p:xfrm>
          <a:off x="468394" y="6926111"/>
          <a:ext cx="6259148" cy="934698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41643">
                  <a:extLst>
                    <a:ext uri="{9D8B030D-6E8A-4147-A177-3AD203B41FA5}">
                      <a16:colId xmlns:a16="http://schemas.microsoft.com/office/drawing/2014/main" val="3536530671"/>
                    </a:ext>
                  </a:extLst>
                </a:gridCol>
                <a:gridCol w="2771555">
                  <a:extLst>
                    <a:ext uri="{9D8B030D-6E8A-4147-A177-3AD203B41FA5}">
                      <a16:colId xmlns:a16="http://schemas.microsoft.com/office/drawing/2014/main" val="1243399764"/>
                    </a:ext>
                  </a:extLst>
                </a:gridCol>
                <a:gridCol w="330821">
                  <a:extLst>
                    <a:ext uri="{9D8B030D-6E8A-4147-A177-3AD203B41FA5}">
                      <a16:colId xmlns:a16="http://schemas.microsoft.com/office/drawing/2014/main" val="168437260"/>
                    </a:ext>
                  </a:extLst>
                </a:gridCol>
                <a:gridCol w="2915129">
                  <a:extLst>
                    <a:ext uri="{9D8B030D-6E8A-4147-A177-3AD203B41FA5}">
                      <a16:colId xmlns:a16="http://schemas.microsoft.com/office/drawing/2014/main" val="2510685774"/>
                    </a:ext>
                  </a:extLst>
                </a:gridCol>
              </a:tblGrid>
              <a:tr h="934698">
                <a:tc>
                  <a:txBody>
                    <a:bodyPr/>
                    <a:lstStyle/>
                    <a:p>
                      <a:pPr rtl="1"/>
                      <a:r>
                        <a:rPr lang="ar-SA" sz="1200" b="0" dirty="0"/>
                        <a:t>أ</a:t>
                      </a:r>
                    </a:p>
                  </a:txBody>
                  <a:tcPr marL="66792" marR="66792" marT="33396" marB="333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‏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ب</a:t>
                      </a:r>
                    </a:p>
                  </a:txBody>
                  <a:tcPr marL="66792" marR="66792" marT="33396" marB="33396"/>
                </a:tc>
                <a:tc>
                  <a:txBody>
                    <a:bodyPr/>
                    <a:lstStyle/>
                    <a:p>
                      <a:pPr rtl="1"/>
                      <a:endParaRPr lang="ar-SA" sz="1200" b="1" dirty="0"/>
                    </a:p>
                  </a:txBody>
                  <a:tcPr marL="66792" marR="66792" marT="33396" marB="33396"/>
                </a:tc>
                <a:extLst>
                  <a:ext uri="{0D108BD9-81ED-4DB2-BD59-A6C34878D82A}">
                    <a16:rowId xmlns:a16="http://schemas.microsoft.com/office/drawing/2014/main" val="682339304"/>
                  </a:ext>
                </a:extLst>
              </a:tr>
            </a:tbl>
          </a:graphicData>
        </a:graphic>
      </p:graphicFrame>
      <p:graphicFrame>
        <p:nvGraphicFramePr>
          <p:cNvPr id="142" name="جدول 141">
            <a:extLst>
              <a:ext uri="{FF2B5EF4-FFF2-40B4-BE49-F238E27FC236}">
                <a16:creationId xmlns:a16="http://schemas.microsoft.com/office/drawing/2014/main" id="{7F19C7A9-6004-80A4-828B-2925F500FF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885173"/>
              </p:ext>
            </p:extLst>
          </p:nvPr>
        </p:nvGraphicFramePr>
        <p:xfrm>
          <a:off x="468394" y="7869468"/>
          <a:ext cx="6277773" cy="934698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42363">
                  <a:extLst>
                    <a:ext uri="{9D8B030D-6E8A-4147-A177-3AD203B41FA5}">
                      <a16:colId xmlns:a16="http://schemas.microsoft.com/office/drawing/2014/main" val="1822213235"/>
                    </a:ext>
                  </a:extLst>
                </a:gridCol>
                <a:gridCol w="2779803">
                  <a:extLst>
                    <a:ext uri="{9D8B030D-6E8A-4147-A177-3AD203B41FA5}">
                      <a16:colId xmlns:a16="http://schemas.microsoft.com/office/drawing/2014/main" val="435560602"/>
                    </a:ext>
                  </a:extLst>
                </a:gridCol>
                <a:gridCol w="331804">
                  <a:extLst>
                    <a:ext uri="{9D8B030D-6E8A-4147-A177-3AD203B41FA5}">
                      <a16:colId xmlns:a16="http://schemas.microsoft.com/office/drawing/2014/main" val="3104215062"/>
                    </a:ext>
                  </a:extLst>
                </a:gridCol>
                <a:gridCol w="2923803">
                  <a:extLst>
                    <a:ext uri="{9D8B030D-6E8A-4147-A177-3AD203B41FA5}">
                      <a16:colId xmlns:a16="http://schemas.microsoft.com/office/drawing/2014/main" val="1571762176"/>
                    </a:ext>
                  </a:extLst>
                </a:gridCol>
              </a:tblGrid>
              <a:tr h="934698">
                <a:tc>
                  <a:txBody>
                    <a:bodyPr/>
                    <a:lstStyle/>
                    <a:p>
                      <a:pPr rtl="1"/>
                      <a:r>
                        <a:rPr lang="ar-SA" sz="1200" b="0" dirty="0"/>
                        <a:t>ج</a:t>
                      </a:r>
                    </a:p>
                  </a:txBody>
                  <a:tcPr marL="48644" marR="48644" marT="24322" marB="2432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‏</a:t>
                      </a:r>
                    </a:p>
                  </a:txBody>
                  <a:tcPr marL="48644" marR="48644" marT="24322" marB="24322"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b="1" dirty="0"/>
                        <a:t>د</a:t>
                      </a:r>
                    </a:p>
                  </a:txBody>
                  <a:tcPr marL="48644" marR="48644" marT="24322" marB="24322"/>
                </a:tc>
                <a:tc>
                  <a:txBody>
                    <a:bodyPr/>
                    <a:lstStyle/>
                    <a:p>
                      <a:pPr rtl="1"/>
                      <a:endParaRPr lang="ar-SA" sz="1200" b="1" dirty="0"/>
                    </a:p>
                  </a:txBody>
                  <a:tcPr marL="48644" marR="48644" marT="24322" marB="24322"/>
                </a:tc>
                <a:extLst>
                  <a:ext uri="{0D108BD9-81ED-4DB2-BD59-A6C34878D82A}">
                    <a16:rowId xmlns:a16="http://schemas.microsoft.com/office/drawing/2014/main" val="2199640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70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497DBAD-C2C7-D7E0-A675-53A0F56D6B83}"/>
              </a:ext>
            </a:extLst>
          </p:cNvPr>
          <p:cNvSpPr>
            <a:spLocks/>
          </p:cNvSpPr>
          <p:nvPr>
            <p:ph type="sldNum" sz="quarter" idx="12"/>
          </p:nvPr>
        </p:nvSpPr>
        <p:spPr>
          <a:xfrm>
            <a:off x="471488" y="9181395"/>
            <a:ext cx="1543050" cy="527403"/>
          </a:xfrm>
        </p:spPr>
        <p:txBody>
          <a:bodyPr/>
          <a:lstStyle/>
          <a:p>
            <a:fld id="{51C5D59E-AF41-49FF-A3D6-241DD8B9305B}" type="slidenum">
              <a:rPr lang="ar-SA" smtClean="0"/>
              <a:t>4</a:t>
            </a:fld>
            <a:endParaRPr lang="ar-SA"/>
          </a:p>
        </p:txBody>
      </p:sp>
      <p:graphicFrame>
        <p:nvGraphicFramePr>
          <p:cNvPr id="10" name="جدول 9">
            <a:extLst>
              <a:ext uri="{FF2B5EF4-FFF2-40B4-BE49-F238E27FC236}">
                <a16:creationId xmlns:a16="http://schemas.microsoft.com/office/drawing/2014/main" id="{3CE8E8F3-02A5-B8F8-27F4-4CE0D05671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3862940"/>
              </p:ext>
            </p:extLst>
          </p:nvPr>
        </p:nvGraphicFramePr>
        <p:xfrm>
          <a:off x="330918" y="472075"/>
          <a:ext cx="6196164" cy="81395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6196164">
                  <a:extLst>
                    <a:ext uri="{9D8B030D-6E8A-4147-A177-3AD203B41FA5}">
                      <a16:colId xmlns:a16="http://schemas.microsoft.com/office/drawing/2014/main" val="1629888044"/>
                    </a:ext>
                  </a:extLst>
                </a:gridCol>
              </a:tblGrid>
              <a:tr h="2377180">
                <a:tc>
                  <a:txBody>
                    <a:bodyPr/>
                    <a:lstStyle/>
                    <a:p>
                      <a:pPr rtl="1"/>
                      <a:endParaRPr lang="ar-S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210057"/>
                  </a:ext>
                </a:extLst>
              </a:tr>
              <a:tr h="3577180">
                <a:tc>
                  <a:txBody>
                    <a:bodyPr/>
                    <a:lstStyle/>
                    <a:p>
                      <a:pPr rtl="1"/>
                      <a:r>
                        <a:rPr lang="ar-SA" sz="1800" dirty="0"/>
                        <a:t>حل المعادلة بالقانون العام مقرباً الحل إلى أقرب جزء من عشرة إذا كان ذلك ضروريا</a:t>
                      </a:r>
                    </a:p>
                    <a:p>
                      <a:pPr rtl="1"/>
                      <a:endParaRPr lang="ar-SA" sz="1800" dirty="0"/>
                    </a:p>
                    <a:p>
                      <a:pPr rtl="1"/>
                      <a:r>
                        <a:rPr lang="ar-SA" sz="1800" dirty="0"/>
                        <a:t>     س</a:t>
                      </a:r>
                      <a:r>
                        <a:rPr lang="ar-SA" sz="1800" baseline="30000" dirty="0"/>
                        <a:t>٢ </a:t>
                      </a:r>
                      <a:r>
                        <a:rPr lang="ar-SA" sz="1800" baseline="0" dirty="0"/>
                        <a:t>– ٤ س = ١٢</a:t>
                      </a:r>
                      <a:endParaRPr lang="ar-S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360648"/>
                  </a:ext>
                </a:extLst>
              </a:tr>
              <a:tr h="2185180">
                <a:tc>
                  <a:txBody>
                    <a:bodyPr/>
                    <a:lstStyle/>
                    <a:p>
                      <a:pPr rtl="1"/>
                      <a:r>
                        <a:rPr lang="ar-SA" sz="1800" dirty="0"/>
                        <a:t>‏تحتوي سلة على ٦ تفاحات و٥ موز و ٤ برتقالات و ٥ كمثرى إذا اختار ماجد حبة واحدة من الفاكهة عشوائيا و اكلها  ثم اختار حبة ثانية فما احتمال أن يكون قد اختار موزة ثم تفاحة؟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104786"/>
                  </a:ext>
                </a:extLst>
              </a:tr>
            </a:tbl>
          </a:graphicData>
        </a:graphic>
      </p:graphicFrame>
      <p:sp>
        <p:nvSpPr>
          <p:cNvPr id="11" name="مثلث قائم الزاوية 10">
            <a:extLst>
              <a:ext uri="{FF2B5EF4-FFF2-40B4-BE49-F238E27FC236}">
                <a16:creationId xmlns:a16="http://schemas.microsoft.com/office/drawing/2014/main" id="{1140C4BC-6205-206B-EB45-0A7C0BC6BDD6}"/>
              </a:ext>
            </a:extLst>
          </p:cNvPr>
          <p:cNvSpPr>
            <a:spLocks/>
          </p:cNvSpPr>
          <p:nvPr/>
        </p:nvSpPr>
        <p:spPr>
          <a:xfrm flipH="1">
            <a:off x="879812" y="1079387"/>
            <a:ext cx="1128712" cy="866205"/>
          </a:xfrm>
          <a:prstGeom prst="rt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40EB4896-0737-D98F-F9AC-905ACCFD0E32}"/>
              </a:ext>
            </a:extLst>
          </p:cNvPr>
          <p:cNvSpPr txBox="1">
            <a:spLocks/>
          </p:cNvSpPr>
          <p:nvPr/>
        </p:nvSpPr>
        <p:spPr>
          <a:xfrm>
            <a:off x="426584" y="944587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dirty="0"/>
              <a:t>أ</a:t>
            </a:r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A4FA2CC0-403B-00DC-4D57-32565118EC35}"/>
              </a:ext>
            </a:extLst>
          </p:cNvPr>
          <p:cNvSpPr txBox="1">
            <a:spLocks/>
          </p:cNvSpPr>
          <p:nvPr/>
        </p:nvSpPr>
        <p:spPr>
          <a:xfrm>
            <a:off x="-919880" y="1837752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dirty="0"/>
              <a:t>ب</a:t>
            </a:r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D61C31CA-A6CE-68D0-44CB-1FB66510A9EB}"/>
              </a:ext>
            </a:extLst>
          </p:cNvPr>
          <p:cNvSpPr txBox="1">
            <a:spLocks/>
          </p:cNvSpPr>
          <p:nvPr/>
        </p:nvSpPr>
        <p:spPr>
          <a:xfrm>
            <a:off x="442913" y="1797196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dirty="0"/>
              <a:t>ج</a:t>
            </a:r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C900EA2D-8D2C-EDA8-44CE-4E091EE7E901}"/>
              </a:ext>
            </a:extLst>
          </p:cNvPr>
          <p:cNvSpPr txBox="1">
            <a:spLocks/>
          </p:cNvSpPr>
          <p:nvPr/>
        </p:nvSpPr>
        <p:spPr>
          <a:xfrm>
            <a:off x="-340206" y="1228790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dirty="0"/>
              <a:t>١٥</a:t>
            </a:r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59FF8538-C4EB-32DA-5578-5FBE7916E857}"/>
              </a:ext>
            </a:extLst>
          </p:cNvPr>
          <p:cNvSpPr txBox="1">
            <a:spLocks/>
          </p:cNvSpPr>
          <p:nvPr/>
        </p:nvSpPr>
        <p:spPr>
          <a:xfrm>
            <a:off x="442913" y="1378193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dirty="0"/>
              <a:t>٩</a:t>
            </a: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371132E6-AF8D-AB85-8F39-F380D0410E78}"/>
              </a:ext>
            </a:extLst>
          </p:cNvPr>
          <p:cNvSpPr txBox="1">
            <a:spLocks/>
          </p:cNvSpPr>
          <p:nvPr/>
        </p:nvSpPr>
        <p:spPr>
          <a:xfrm>
            <a:off x="4612769" y="621320"/>
            <a:ext cx="1671037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dirty="0"/>
              <a:t>‏في المثلث القائم أ ب ج أوجد كلا من</a:t>
            </a:r>
          </a:p>
          <a:p>
            <a:pPr algn="r"/>
            <a:endParaRPr lang="ar-SA" dirty="0"/>
          </a:p>
          <a:p>
            <a:pPr algn="r"/>
            <a:r>
              <a:rPr lang="ar-SA" dirty="0"/>
              <a:t>١/. جا أ </a:t>
            </a:r>
            <a:r>
              <a:rPr lang="en-GB" dirty="0"/>
              <a:t>=</a:t>
            </a:r>
          </a:p>
          <a:p>
            <a:pPr algn="r"/>
            <a:endParaRPr lang="en-GB" dirty="0"/>
          </a:p>
          <a:p>
            <a:pPr algn="r"/>
            <a:endParaRPr lang="en-GB" dirty="0"/>
          </a:p>
          <a:p>
            <a:pPr algn="r"/>
            <a:r>
              <a:rPr lang="ar-SA" dirty="0"/>
              <a:t>٢/. قياس الزاوية ب</a:t>
            </a:r>
          </a:p>
        </p:txBody>
      </p:sp>
      <p:sp>
        <p:nvSpPr>
          <p:cNvPr id="37" name="مربع نص 36">
            <a:extLst>
              <a:ext uri="{FF2B5EF4-FFF2-40B4-BE49-F238E27FC236}">
                <a16:creationId xmlns:a16="http://schemas.microsoft.com/office/drawing/2014/main" id="{5B126210-8E05-5037-4071-224511E9F155}"/>
              </a:ext>
            </a:extLst>
          </p:cNvPr>
          <p:cNvSpPr txBox="1"/>
          <p:nvPr/>
        </p:nvSpPr>
        <p:spPr>
          <a:xfrm>
            <a:off x="60949" y="8761018"/>
            <a:ext cx="389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dirty="0"/>
              <a:t>انتهت الأسئلة </a:t>
            </a:r>
            <a:endParaRPr lang="ar-SA" sz="1800" dirty="0"/>
          </a:p>
        </p:txBody>
      </p:sp>
    </p:spTree>
    <p:extLst>
      <p:ext uri="{BB962C8B-B14F-4D97-AF65-F5344CB8AC3E}">
        <p14:creationId xmlns:p14="http://schemas.microsoft.com/office/powerpoint/2010/main" val="178035306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1222</Words>
  <Application>Microsoft Office PowerPoint</Application>
  <PresentationFormat>A4 Paper (210x297 mm)‎</PresentationFormat>
  <Paragraphs>427</Paragraphs>
  <Slides>4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4</vt:i4>
      </vt:variant>
    </vt:vector>
  </HeadingPairs>
  <TitlesOfParts>
    <vt:vector size="5" baseType="lpstr"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فهد الجهني</dc:creator>
  <cp:lastModifiedBy>عواطف الجهني</cp:lastModifiedBy>
  <cp:revision>8</cp:revision>
  <cp:lastPrinted>2024-02-05T20:30:44Z</cp:lastPrinted>
  <dcterms:created xsi:type="dcterms:W3CDTF">2024-01-26T01:44:31Z</dcterms:created>
  <dcterms:modified xsi:type="dcterms:W3CDTF">2026-05-18T11:58:16Z</dcterms:modified>
</cp:coreProperties>
</file>